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75" r:id="rId2"/>
    <p:sldId id="257" r:id="rId3"/>
    <p:sldId id="258" r:id="rId4"/>
    <p:sldId id="259" r:id="rId5"/>
    <p:sldId id="260" r:id="rId6"/>
    <p:sldId id="261" r:id="rId7"/>
    <p:sldId id="262" r:id="rId8"/>
    <p:sldId id="263" r:id="rId9"/>
    <p:sldId id="264" r:id="rId10"/>
    <p:sldId id="265" r:id="rId11"/>
    <p:sldId id="277" r:id="rId12"/>
    <p:sldId id="268" r:id="rId13"/>
    <p:sldId id="269" r:id="rId14"/>
    <p:sldId id="271" r:id="rId15"/>
    <p:sldId id="272" r:id="rId16"/>
  </p:sldIdLst>
  <p:sldSz cx="14630400" cy="8229600"/>
  <p:notesSz cx="8229600" cy="14630400"/>
  <p:embeddedFontLst>
    <p:embeddedFont>
      <p:font typeface="Roboto" panose="02000000000000000000" pitchFamily="2" charset="0"/>
      <p:regular r:id="rId18"/>
      <p:bold r:id="rId19"/>
      <p:italic r:id="rId20"/>
    </p:embeddedFont>
    <p:embeddedFont>
      <p:font typeface="Roboto Slab Bold" panose="020B0604020202020204" charset="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5E3"/>
    <a:srgbClr val="E4E5E2"/>
    <a:srgbClr val="EDFBFE"/>
    <a:srgbClr val="2871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70170" autoAdjust="0"/>
  </p:normalViewPr>
  <p:slideViewPr>
    <p:cSldViewPr snapToGrid="0" snapToObjects="1">
      <p:cViewPr varScale="1">
        <p:scale>
          <a:sx n="51" d="100"/>
          <a:sy n="51" d="100"/>
        </p:scale>
        <p:origin x="1242" y="57"/>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6293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esteemed colleagues and members of the Indian Endodontic Society. My name is </a:t>
            </a:r>
            <a:r>
              <a:rPr lang="en-US" sz="1200" kern="1200" dirty="0" err="1">
                <a:solidFill>
                  <a:schemeClr val="tx1"/>
                </a:solidFill>
                <a:effectLst/>
                <a:latin typeface="+mn-lt"/>
                <a:ea typeface="+mn-ea"/>
                <a:cs typeface="+mn-cs"/>
              </a:rPr>
              <a:t>Dr.Nisarg.and</a:t>
            </a:r>
            <a:r>
              <a:rPr lang="en-US" sz="1200" kern="1200" dirty="0">
                <a:solidFill>
                  <a:schemeClr val="tx1"/>
                </a:solidFill>
                <a:effectLst/>
                <a:latin typeface="+mn-lt"/>
                <a:ea typeface="+mn-ea"/>
                <a:cs typeface="+mn-cs"/>
              </a:rPr>
              <a:t> today I am privileged to present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 a no-code blueprint for an AI-powered endodontic clinical agent, using open source workflow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561026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EndoFlow</a:t>
            </a:r>
            <a:r>
              <a:rPr lang="en-US" dirty="0"/>
              <a:t> is what many of us have wished for: a true AI-powered scribe and assistant. Imagine your practice seamlessly powered by intelligence. A world where you can </a:t>
            </a:r>
            <a:r>
              <a:rPr lang="en-US" i="1" dirty="0"/>
              <a:t>talk</a:t>
            </a:r>
            <a:r>
              <a:rPr lang="en-US" dirty="0"/>
              <a:t> to your clinic's AI to instantly analyze patient data, get diagnostic support, and manage your schedule by voice. But what's holding us back?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is familiar. The reality of our profession is an abundance of tasks and a scarcity of time. We are trained as diagnosticians and therapists, but we spend huge portions of our day as administrators, manually managing information. The irony is our practices are data-rich—generating vast amounts of CBCTs, radiographs, and notes—but we remain insight-poor. Our data is siloed across different computers, requiring significant effort to collate, by which time the opportunity for insight is lost.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decades, we relied on paper OPD cards. We've all faced the frustration of a patient arriving with a lost or torn card, instantly erasing a complex history and wasting all our previous efforts. The clear need for centralization led us to digital Practice Management Software, or PMS.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PMS solutions were a major step forward. They digitized our paper problems, giving us a central, reliable place to store records. For the first time, we could instantly recall a patient's history, radiographs, and treatment notes without searching through a physical file cabinet.  And now, we are in the next wave of evolution: the rise of powerful, niche AI tools. We see incredible software that can analyze a 2D radiograph and highlight potential caries, or segment a CBCT scan. These tools are highly specialized for specific tasks like imaging analysis and diagnostics.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this creates a new problem. This clinician, drowning in data across multiple screens, is still us. Why? Because today's solutions have four critical failings: 1-We have powerful but isolated tools, forcing us to switch between multiple applications for a single patient. 2-This fragmentation adds to our administrative burden, making simple data storage another time-consuming task. 3- Their protocols are static, taking years to incorporate new breakthrough research. 4-The software cannot analyze our own practice data, preventing us from learning from our own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solve this, my colleague from IIT and I developed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It is not just another app. It is designed to be the AI-powered central nervous system for your entire practice, accessible on every device. The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Ecosystem - It's a unified ecosystem with three dedicated dashboards: one for the dentist, one for the assistant, and a portal for the patient to access their own records and treatment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Today, we'll focus on the Dentist Dashboard, which is built on a Five-Pillar AI Engine. These pillars are: An Endo-AI Co-Pilot: A evidence-based clinical partner. Conversational AI: Just say "Hey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and you can have a complex, back-and-forth conversation with your practice. A Research &amp; Analytics AI that, as we'll see, generates insights from your own data. A Self-Learning AI: This is crucial. It reads and ingests new research papers with you, allowing you to ask questions directly about the paper's methodology and conclusions, etc. And an AI Scheduler that doesn't just book patients—it manages your assistant's tasks in real-time, so you know exactly what is being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just witnessed in the live demonstration is how these five pillars translate from concepts into a powerful, functioning clinical partner.</a:t>
            </a:r>
          </a:p>
          <a:p>
            <a:r>
              <a:rPr lang="en-US" dirty="0"/>
              <a:t>When you saw us use a simple voice or text command like, "Hey </a:t>
            </a:r>
            <a:r>
              <a:rPr lang="en-US" dirty="0" err="1"/>
              <a:t>EndoFlow</a:t>
            </a:r>
            <a:r>
              <a:rPr lang="en-US" dirty="0"/>
              <a:t>, what is the irrigation protocol for cases with pulp </a:t>
            </a:r>
            <a:r>
              <a:rPr lang="en-US" dirty="0" err="1"/>
              <a:t>necrrobiosis</a:t>
            </a:r>
            <a:r>
              <a:rPr lang="en-US" dirty="0"/>
              <a:t>?"—that is our Self-Learning AI and RAG engine in action. It's solving the "Static Evidence" problem by giving you instant access to the latest research, not outdated rules.</a:t>
            </a:r>
          </a:p>
          <a:p>
            <a:r>
              <a:rPr lang="en-US" dirty="0"/>
              <a:t>When you saw us ask, "Show me all root canal cases from last month,"—that is our Clinic Analytics AI leveraging clinical data mining. We are, for the first time, solving the "Data-Rich, Insight-Poor" problem.</a:t>
            </a:r>
          </a:p>
          <a:p>
            <a:r>
              <a:rPr lang="en-US" dirty="0"/>
              <a:t>And the entire interaction, happening hands-free? That is our Conversational AI and NLP engine eliminating the "administrator" burden.</a:t>
            </a:r>
          </a:p>
          <a:p>
            <a:r>
              <a:rPr lang="en-US" dirty="0"/>
              <a:t>This is how </a:t>
            </a:r>
            <a:r>
              <a:rPr lang="en-US" dirty="0" err="1"/>
              <a:t>EndoFlow</a:t>
            </a:r>
            <a:r>
              <a:rPr lang="en-US" dirty="0"/>
              <a:t> uses an integrated suite of modern AI technologies to transform your clinic data from a dead archive into a live, intelligent, </a:t>
            </a:r>
            <a:r>
              <a:rPr lang="en-US" dirty="0" err="1"/>
              <a:t>queryable</a:t>
            </a:r>
            <a:r>
              <a:rPr lang="en-US" dirty="0"/>
              <a:t> database that actively works for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we compare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to existing solutions, the difference is clear. the difference becomes clear. Existing solutions are niche tools—they might be very good at one specific task, like analyzing a radiograph. But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is designed as a comprehensive </a:t>
            </a:r>
            <a:r>
              <a:rPr lang="en-US" sz="1200" i="1" kern="1200" dirty="0">
                <a:solidFill>
                  <a:schemeClr val="tx1"/>
                </a:solidFill>
                <a:effectLst/>
                <a:latin typeface="+mn-lt"/>
                <a:ea typeface="+mn-ea"/>
                <a:cs typeface="+mn-cs"/>
              </a:rPr>
              <a:t>umbrella</a:t>
            </a:r>
            <a:r>
              <a:rPr lang="en-US" sz="1200" kern="1200" dirty="0">
                <a:solidFill>
                  <a:schemeClr val="tx1"/>
                </a:solidFill>
                <a:effectLst/>
                <a:latin typeface="+mn-lt"/>
                <a:ea typeface="+mn-ea"/>
                <a:cs typeface="+mn-cs"/>
              </a:rPr>
              <a:t>. </a:t>
            </a:r>
            <a:endParaRPr lang="en-US" dirty="0"/>
          </a:p>
        </p:txBody>
      </p:sp>
    </p:spTree>
    <p:extLst>
      <p:ext uri="{BB962C8B-B14F-4D97-AF65-F5344CB8AC3E}">
        <p14:creationId xmlns:p14="http://schemas.microsoft.com/office/powerpoint/2010/main" val="3890992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It's a holistic system that connects all the disparate pieces—the imaging, the scheduling, the clinical notes, and the research—into one single, intelligent system, eliminating the fragmentation that costs us so much time. It automates the entire workflow, not just one piece of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how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helps us achieve true endodontic excellence. It rests on three pillars:</a:t>
            </a:r>
          </a:p>
          <a:p>
            <a:r>
              <a:rPr lang="en-US" sz="1200" kern="1200" dirty="0">
                <a:solidFill>
                  <a:schemeClr val="tx1"/>
                </a:solidFill>
                <a:effectLst/>
                <a:latin typeface="+mn-lt"/>
                <a:ea typeface="+mn-ea"/>
                <a:cs typeface="+mn-cs"/>
              </a:rPr>
              <a:t>A Truly Integrated AI Suite. A RAG Evidence Engine that keeps you current. And, in my opinion, the most transformative pillar: Practice as a Learning System. What does this mean? It means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turns your qualitative feelings into quantitative facts. You can finally get answers to critical questions: "Which of my procedures is performing better?" "What is the 5-year success rate for my single-visit vs. multi-visit treatments?" You can learn directly from your own hands.</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this, </a:t>
            </a:r>
            <a:r>
              <a:rPr lang="en-US" sz="1200" kern="1200" dirty="0" err="1">
                <a:solidFill>
                  <a:schemeClr val="tx1"/>
                </a:solidFill>
                <a:effectLst/>
                <a:latin typeface="+mn-lt"/>
                <a:ea typeface="+mn-ea"/>
                <a:cs typeface="+mn-cs"/>
              </a:rPr>
              <a:t>EndoFlow</a:t>
            </a:r>
            <a:r>
              <a:rPr lang="en-US" sz="1200" kern="1200" dirty="0">
                <a:solidFill>
                  <a:schemeClr val="tx1"/>
                </a:solidFill>
                <a:effectLst/>
                <a:latin typeface="+mn-lt"/>
                <a:ea typeface="+mn-ea"/>
                <a:cs typeface="+mn-cs"/>
              </a:rPr>
              <a:t> allows us to command the new oil of the 21st century: Time and Data. We reclaim our time, and we unlock the immense value hidden in our own practice 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Ultimately, this delivers the triple impact we all strive for: Superior Patient Care, because we have more time and better insights. Accelerated Research, because we can generate and apply new evidence almost instantly. And finally, a healthier, more sustainable Work-Life Balance for every single one of us.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00000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BCF1FB"/>
          </a:solidFill>
          <a:ln/>
        </p:spPr>
      </p:sp>
      <p:sp>
        <p:nvSpPr>
          <p:cNvPr id="3" name="Shape 1"/>
          <p:cNvSpPr/>
          <p:nvPr/>
        </p:nvSpPr>
        <p:spPr>
          <a:xfrm>
            <a:off x="0" y="0"/>
            <a:ext cx="14630400" cy="8229600"/>
          </a:xfrm>
          <a:prstGeom prst="rect">
            <a:avLst/>
          </a:prstGeom>
          <a:solidFill>
            <a:srgbClr val="ECFBFE"/>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svg"/><Relationship Id="rId26" Type="http://schemas.openxmlformats.org/officeDocument/2006/relationships/image" Target="../media/image36.png"/><Relationship Id="rId3" Type="http://schemas.openxmlformats.org/officeDocument/2006/relationships/image" Target="../media/image13.png"/><Relationship Id="rId21" Type="http://schemas.openxmlformats.org/officeDocument/2006/relationships/image" Target="../media/image31.sv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21.png"/><Relationship Id="rId24" Type="http://schemas.openxmlformats.org/officeDocument/2006/relationships/image" Target="../media/image34.svg"/><Relationship Id="rId5" Type="http://schemas.openxmlformats.org/officeDocument/2006/relationships/image" Target="../media/image15.png"/><Relationship Id="rId15" Type="http://schemas.openxmlformats.org/officeDocument/2006/relationships/image" Target="../media/image25.sv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sv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svg"/></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59.svg"/><Relationship Id="rId5" Type="http://schemas.openxmlformats.org/officeDocument/2006/relationships/image" Target="../media/image58.png"/><Relationship Id="rId10" Type="http://schemas.openxmlformats.org/officeDocument/2006/relationships/image" Target="../media/image63.svg"/><Relationship Id="rId4" Type="http://schemas.openxmlformats.org/officeDocument/2006/relationships/image" Target="../media/image57.png"/><Relationship Id="rId9" Type="http://schemas.openxmlformats.org/officeDocument/2006/relationships/image" Target="../media/image62.png"/></Relationships>
</file>

<file path=ppt/slides/_rels/slide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76.svg"/><Relationship Id="rId13" Type="http://schemas.openxmlformats.org/officeDocument/2006/relationships/image" Target="../media/image81.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74.sv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png"/><Relationship Id="rId14" Type="http://schemas.openxmlformats.org/officeDocument/2006/relationships/image" Target="../media/image8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86.svg"/><Relationship Id="rId5" Type="http://schemas.openxmlformats.org/officeDocument/2006/relationships/image" Target="../media/image85.png"/><Relationship Id="rId10" Type="http://schemas.openxmlformats.org/officeDocument/2006/relationships/image" Target="../media/image90.svg"/><Relationship Id="rId4" Type="http://schemas.openxmlformats.org/officeDocument/2006/relationships/image" Target="../media/image84.png"/><Relationship Id="rId9" Type="http://schemas.openxmlformats.org/officeDocument/2006/relationships/image" Target="../media/image89.png"/></Relationships>
</file>

<file path=ppt/slides/_rels/slide1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793791" y="2284515"/>
            <a:ext cx="9699508" cy="2126337"/>
          </a:xfrm>
          <a:prstGeom prst="rect">
            <a:avLst/>
          </a:prstGeom>
          <a:noFill/>
          <a:ln/>
        </p:spPr>
        <p:txBody>
          <a:bodyPr wrap="square" lIns="0" tIns="0" rIns="0" bIns="0" rtlCol="0" anchor="t"/>
          <a:lstStyle/>
          <a:p>
            <a:pPr marL="0" indent="0" algn="l">
              <a:lnSpc>
                <a:spcPts val="5550"/>
              </a:lnSpc>
              <a:buNone/>
            </a:pPr>
            <a:r>
              <a:rPr lang="en-US" sz="4450" b="1" dirty="0">
                <a:solidFill>
                  <a:srgbClr val="03978F"/>
                </a:solidFill>
                <a:latin typeface="Roboto Slab Bold" pitchFamily="34" charset="0"/>
                <a:ea typeface="Roboto Slab Bold" pitchFamily="34" charset="-122"/>
                <a:cs typeface="Roboto Slab Bold" pitchFamily="34" charset="-120"/>
              </a:rPr>
              <a:t>EndoFlow</a:t>
            </a:r>
            <a:r>
              <a:rPr lang="en-US" sz="3600" b="1" dirty="0">
                <a:latin typeface="Roboto Slab Bold" pitchFamily="34" charset="0"/>
                <a:ea typeface="Roboto Slab Bold" pitchFamily="34" charset="-122"/>
                <a:cs typeface="Roboto Slab Bold" pitchFamily="34" charset="-120"/>
              </a:rPr>
              <a:t>: A No-Code Blueprint for an AI-Powered Endodontic Clinical Agent Using Open-Source Workflow Automation</a:t>
            </a:r>
            <a:endParaRPr lang="en-US" sz="4450" dirty="0"/>
          </a:p>
        </p:txBody>
      </p:sp>
      <p:pic>
        <p:nvPicPr>
          <p:cNvPr id="5" name="Image 1" descr="preencoded.png"/>
          <p:cNvPicPr>
            <a:picLocks noChangeAspect="1"/>
          </p:cNvPicPr>
          <p:nvPr/>
        </p:nvPicPr>
        <p:blipFill>
          <a:blip r:embed="rId4"/>
          <a:stretch>
            <a:fillRect/>
          </a:stretch>
        </p:blipFill>
        <p:spPr>
          <a:xfrm>
            <a:off x="793791" y="4722724"/>
            <a:ext cx="8222456" cy="965121"/>
          </a:xfrm>
          <a:prstGeom prst="rect">
            <a:avLst/>
          </a:prstGeom>
        </p:spPr>
      </p:pic>
      <p:sp>
        <p:nvSpPr>
          <p:cNvPr id="6" name="Text 2"/>
          <p:cNvSpPr/>
          <p:nvPr/>
        </p:nvSpPr>
        <p:spPr>
          <a:xfrm>
            <a:off x="793791" y="6107580"/>
            <a:ext cx="4649391" cy="425291"/>
          </a:xfrm>
          <a:prstGeom prst="rect">
            <a:avLst/>
          </a:prstGeom>
          <a:noFill/>
          <a:ln/>
        </p:spPr>
        <p:txBody>
          <a:bodyPr wrap="none" lIns="0" tIns="0" rIns="0" bIns="0" rtlCol="0" anchor="t"/>
          <a:lstStyle/>
          <a:p>
            <a:pPr marL="0" indent="0" algn="l">
              <a:lnSpc>
                <a:spcPts val="3300"/>
              </a:lnSpc>
              <a:buNone/>
            </a:pPr>
            <a:r>
              <a:rPr lang="en-US" sz="2650" b="1" dirty="0">
                <a:solidFill>
                  <a:srgbClr val="03978F"/>
                </a:solidFill>
                <a:latin typeface="Roboto Slab Bold" pitchFamily="34" charset="0"/>
                <a:ea typeface="Roboto Slab Bold" pitchFamily="34" charset="-122"/>
                <a:cs typeface="Roboto Slab Bold" pitchFamily="34" charset="-120"/>
              </a:rPr>
              <a:t>IES Registration no.: IES0893</a:t>
            </a:r>
            <a:endParaRPr lang="en-US" sz="2650" dirty="0"/>
          </a:p>
        </p:txBody>
      </p:sp>
    </p:spTree>
    <p:extLst>
      <p:ext uri="{BB962C8B-B14F-4D97-AF65-F5344CB8AC3E}">
        <p14:creationId xmlns:p14="http://schemas.microsoft.com/office/powerpoint/2010/main" val="126893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26745"/>
            <a:ext cx="7556421" cy="1275874"/>
          </a:xfrm>
          <a:prstGeom prst="rect">
            <a:avLst/>
          </a:prstGeom>
          <a:noFill/>
          <a:ln/>
        </p:spPr>
        <p:txBody>
          <a:bodyPr wrap="square" lIns="0" tIns="0" rIns="0" bIns="0" rtlCol="0" anchor="t"/>
          <a:lstStyle/>
          <a:p>
            <a:pPr marL="0" indent="0" algn="ctr">
              <a:lnSpc>
                <a:spcPts val="3300"/>
              </a:lnSpc>
              <a:buNone/>
            </a:pPr>
            <a:r>
              <a:rPr lang="en-US" sz="2650" b="1" dirty="0">
                <a:solidFill>
                  <a:srgbClr val="03978F"/>
                </a:solidFill>
                <a:latin typeface="Roboto Slab Bold" pitchFamily="34" charset="0"/>
                <a:ea typeface="Roboto Slab Bold" pitchFamily="34" charset="-122"/>
                <a:cs typeface="Roboto Slab Bold" pitchFamily="34" charset="-120"/>
              </a:rPr>
              <a:t>Imagine a world where your endodontic practice is seamlessly powered by intelligence. </a:t>
            </a:r>
            <a:endParaRPr lang="en-US" sz="2650" dirty="0"/>
          </a:p>
        </p:txBody>
      </p:sp>
      <p:pic>
        <p:nvPicPr>
          <p:cNvPr id="4" name="Image 1" descr="preencoded.png"/>
          <p:cNvPicPr>
            <a:picLocks noChangeAspect="1"/>
          </p:cNvPicPr>
          <p:nvPr/>
        </p:nvPicPr>
        <p:blipFill>
          <a:blip r:embed="rId4"/>
          <a:stretch>
            <a:fillRect/>
          </a:stretch>
        </p:blipFill>
        <p:spPr>
          <a:xfrm>
            <a:off x="793790" y="2242780"/>
            <a:ext cx="7556421" cy="4741902"/>
          </a:xfrm>
          <a:prstGeom prst="rect">
            <a:avLst/>
          </a:prstGeom>
        </p:spPr>
      </p:pic>
      <p:pic>
        <p:nvPicPr>
          <p:cNvPr id="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11591" y="2580538"/>
            <a:ext cx="209176" cy="209176"/>
          </a:xfrm>
          <a:prstGeom prst="rect">
            <a:avLst/>
          </a:prstGeom>
        </p:spPr>
      </p:pic>
      <p:sp>
        <p:nvSpPr>
          <p:cNvPr id="6" name="Text 1"/>
          <p:cNvSpPr/>
          <p:nvPr/>
        </p:nvSpPr>
        <p:spPr>
          <a:xfrm>
            <a:off x="1089553" y="2818345"/>
            <a:ext cx="1439133" cy="470646"/>
          </a:xfrm>
          <a:prstGeom prst="rect">
            <a:avLst/>
          </a:prstGeom>
          <a:noFill/>
          <a:ln/>
        </p:spPr>
        <p:txBody>
          <a:bodyPr wrap="square" lIns="0" tIns="0" rIns="0" bIns="0" rtlCol="0" anchor="t"/>
          <a:lstStyle/>
          <a:p>
            <a:pPr marL="0" indent="0" algn="ctr">
              <a:lnSpc>
                <a:spcPts val="1650"/>
              </a:lnSpc>
              <a:buNone/>
            </a:pPr>
            <a:r>
              <a:rPr lang="en-US" sz="1350" b="1" dirty="0">
                <a:solidFill>
                  <a:srgbClr val="287170"/>
                </a:solidFill>
                <a:latin typeface="Roboto Slab Bold" pitchFamily="34" charset="0"/>
                <a:ea typeface="Roboto Slab Bold" pitchFamily="34" charset="-122"/>
                <a:cs typeface="Roboto Slab Bold" pitchFamily="34" charset="-120"/>
              </a:rPr>
              <a:t>Talk to your clinic AI</a:t>
            </a:r>
            <a:endParaRPr lang="en-US" sz="1350" dirty="0"/>
          </a:p>
        </p:txBody>
      </p:sp>
      <p:sp>
        <p:nvSpPr>
          <p:cNvPr id="7" name="Text 2"/>
          <p:cNvSpPr/>
          <p:nvPr/>
        </p:nvSpPr>
        <p:spPr>
          <a:xfrm>
            <a:off x="1089553" y="3355928"/>
            <a:ext cx="1439133" cy="753035"/>
          </a:xfrm>
          <a:prstGeom prst="rect">
            <a:avLst/>
          </a:prstGeom>
          <a:noFill/>
          <a:ln/>
        </p:spPr>
        <p:txBody>
          <a:bodyPr wrap="square" lIns="0" tIns="0" rIns="0" bIns="0" rtlCol="0" anchor="t"/>
          <a:lstStyle/>
          <a:p>
            <a:pPr marL="0" indent="0" algn="ctr">
              <a:lnSpc>
                <a:spcPts val="1350"/>
              </a:lnSpc>
              <a:buNone/>
            </a:pPr>
            <a:r>
              <a:rPr lang="en-US" sz="1050" dirty="0">
                <a:solidFill>
                  <a:srgbClr val="287170"/>
                </a:solidFill>
                <a:latin typeface="Roboto" pitchFamily="34" charset="0"/>
                <a:ea typeface="Roboto" pitchFamily="34" charset="-122"/>
                <a:cs typeface="Roboto" pitchFamily="34" charset="-120"/>
              </a:rPr>
              <a:t>Engage with an intelligent assistant for your clinical needs.</a:t>
            </a:r>
            <a:endParaRPr lang="en-US" sz="1050" dirty="0"/>
          </a:p>
        </p:txBody>
      </p:sp>
      <p:pic>
        <p:nvPicPr>
          <p:cNvPr id="8"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46273" y="4822907"/>
            <a:ext cx="209176" cy="209176"/>
          </a:xfrm>
          <a:prstGeom prst="rect">
            <a:avLst/>
          </a:prstGeom>
        </p:spPr>
      </p:pic>
      <p:sp>
        <p:nvSpPr>
          <p:cNvPr id="9" name="Text 3"/>
          <p:cNvSpPr/>
          <p:nvPr/>
        </p:nvSpPr>
        <p:spPr>
          <a:xfrm>
            <a:off x="1424235" y="5154844"/>
            <a:ext cx="1439133" cy="470647"/>
          </a:xfrm>
          <a:prstGeom prst="rect">
            <a:avLst/>
          </a:prstGeom>
          <a:noFill/>
          <a:ln/>
        </p:spPr>
        <p:txBody>
          <a:bodyPr wrap="square" lIns="0" tIns="0" rIns="0" bIns="0" rtlCol="0" anchor="t"/>
          <a:lstStyle/>
          <a:p>
            <a:pPr marL="0" indent="0" algn="ctr">
              <a:lnSpc>
                <a:spcPts val="1650"/>
              </a:lnSpc>
              <a:buNone/>
            </a:pPr>
            <a:r>
              <a:rPr lang="en-US" sz="1350" b="1" dirty="0">
                <a:solidFill>
                  <a:srgbClr val="287170"/>
                </a:solidFill>
                <a:latin typeface="Roboto Slab Bold" pitchFamily="34" charset="0"/>
                <a:ea typeface="Roboto Slab Bold" pitchFamily="34" charset="-122"/>
                <a:cs typeface="Roboto Slab Bold" pitchFamily="34" charset="-120"/>
              </a:rPr>
              <a:t>Analyze and Learn</a:t>
            </a:r>
            <a:endParaRPr lang="en-US" sz="1350" dirty="0"/>
          </a:p>
        </p:txBody>
      </p:sp>
      <p:sp>
        <p:nvSpPr>
          <p:cNvPr id="10" name="Text 4"/>
          <p:cNvSpPr/>
          <p:nvPr/>
        </p:nvSpPr>
        <p:spPr>
          <a:xfrm>
            <a:off x="1424235" y="5692427"/>
            <a:ext cx="1439133" cy="564776"/>
          </a:xfrm>
          <a:prstGeom prst="rect">
            <a:avLst/>
          </a:prstGeom>
          <a:noFill/>
          <a:ln/>
        </p:spPr>
        <p:txBody>
          <a:bodyPr wrap="square" lIns="0" tIns="0" rIns="0" bIns="0" rtlCol="0" anchor="t"/>
          <a:lstStyle/>
          <a:p>
            <a:pPr marL="0" indent="0" algn="ctr">
              <a:lnSpc>
                <a:spcPts val="1350"/>
              </a:lnSpc>
              <a:buNone/>
            </a:pPr>
            <a:r>
              <a:rPr lang="en-US" sz="1050" dirty="0">
                <a:solidFill>
                  <a:srgbClr val="287170"/>
                </a:solidFill>
                <a:latin typeface="Roboto" pitchFamily="34" charset="0"/>
                <a:ea typeface="Roboto" pitchFamily="34" charset="-122"/>
                <a:cs typeface="Roboto" pitchFamily="34" charset="-120"/>
              </a:rPr>
              <a:t>Gain insights from evidence-based data analysis.</a:t>
            </a:r>
            <a:endParaRPr lang="en-US" sz="1050" dirty="0"/>
          </a:p>
        </p:txBody>
      </p:sp>
      <p:pic>
        <p:nvPicPr>
          <p:cNvPr id="11"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99162" y="4822907"/>
            <a:ext cx="209176" cy="209176"/>
          </a:xfrm>
          <a:prstGeom prst="rect">
            <a:avLst/>
          </a:prstGeom>
        </p:spPr>
      </p:pic>
      <p:sp>
        <p:nvSpPr>
          <p:cNvPr id="12" name="Text 5"/>
          <p:cNvSpPr/>
          <p:nvPr/>
        </p:nvSpPr>
        <p:spPr>
          <a:xfrm>
            <a:off x="6277124" y="5060715"/>
            <a:ext cx="1439133" cy="470647"/>
          </a:xfrm>
          <a:prstGeom prst="rect">
            <a:avLst/>
          </a:prstGeom>
          <a:noFill/>
          <a:ln/>
        </p:spPr>
        <p:txBody>
          <a:bodyPr wrap="square" lIns="0" tIns="0" rIns="0" bIns="0" rtlCol="0" anchor="t"/>
          <a:lstStyle/>
          <a:p>
            <a:pPr marL="0" indent="0" algn="ctr">
              <a:lnSpc>
                <a:spcPts val="1650"/>
              </a:lnSpc>
              <a:buNone/>
            </a:pPr>
            <a:r>
              <a:rPr lang="en-US" sz="1350" b="1" dirty="0">
                <a:solidFill>
                  <a:srgbClr val="287170"/>
                </a:solidFill>
                <a:latin typeface="Roboto Slab Bold" pitchFamily="34" charset="0"/>
                <a:ea typeface="Roboto Slab Bold" pitchFamily="34" charset="-122"/>
                <a:cs typeface="Roboto Slab Bold" pitchFamily="34" charset="-120"/>
              </a:rPr>
              <a:t>Diagnose and Tx planning</a:t>
            </a:r>
            <a:endParaRPr lang="en-US" sz="1350" dirty="0"/>
          </a:p>
        </p:txBody>
      </p:sp>
      <p:sp>
        <p:nvSpPr>
          <p:cNvPr id="13" name="Text 6"/>
          <p:cNvSpPr/>
          <p:nvPr/>
        </p:nvSpPr>
        <p:spPr>
          <a:xfrm>
            <a:off x="6277124" y="5598298"/>
            <a:ext cx="1439133" cy="753035"/>
          </a:xfrm>
          <a:prstGeom prst="rect">
            <a:avLst/>
          </a:prstGeom>
          <a:noFill/>
          <a:ln/>
        </p:spPr>
        <p:txBody>
          <a:bodyPr wrap="square" lIns="0" tIns="0" rIns="0" bIns="0" rtlCol="0" anchor="t"/>
          <a:lstStyle/>
          <a:p>
            <a:pPr marL="0" indent="0" algn="ctr">
              <a:lnSpc>
                <a:spcPts val="1350"/>
              </a:lnSpc>
              <a:buNone/>
            </a:pPr>
            <a:r>
              <a:rPr lang="en-US" sz="1050" dirty="0">
                <a:solidFill>
                  <a:srgbClr val="287170"/>
                </a:solidFill>
                <a:latin typeface="Roboto" pitchFamily="34" charset="0"/>
                <a:ea typeface="Roboto" pitchFamily="34" charset="-122"/>
                <a:cs typeface="Roboto" pitchFamily="34" charset="-120"/>
              </a:rPr>
              <a:t>Support for diagnosis and creating effective treatment plans.</a:t>
            </a:r>
            <a:endParaRPr lang="en-US" sz="1050" dirty="0"/>
          </a:p>
        </p:txBody>
      </p:sp>
      <p:pic>
        <p:nvPicPr>
          <p:cNvPr id="14"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3844" y="2580538"/>
            <a:ext cx="209176" cy="209176"/>
          </a:xfrm>
          <a:prstGeom prst="rect">
            <a:avLst/>
          </a:prstGeom>
        </p:spPr>
      </p:pic>
      <p:sp>
        <p:nvSpPr>
          <p:cNvPr id="15" name="Text 7"/>
          <p:cNvSpPr/>
          <p:nvPr/>
        </p:nvSpPr>
        <p:spPr>
          <a:xfrm>
            <a:off x="6611806" y="2818345"/>
            <a:ext cx="1439133" cy="470646"/>
          </a:xfrm>
          <a:prstGeom prst="rect">
            <a:avLst/>
          </a:prstGeom>
          <a:noFill/>
          <a:ln/>
        </p:spPr>
        <p:txBody>
          <a:bodyPr wrap="square" lIns="0" tIns="0" rIns="0" bIns="0" rtlCol="0" anchor="t"/>
          <a:lstStyle/>
          <a:p>
            <a:pPr marL="0" indent="0" algn="ctr">
              <a:lnSpc>
                <a:spcPts val="1650"/>
              </a:lnSpc>
              <a:buNone/>
            </a:pPr>
            <a:r>
              <a:rPr lang="en-US" sz="1350" b="1" dirty="0">
                <a:solidFill>
                  <a:srgbClr val="287170"/>
                </a:solidFill>
                <a:latin typeface="Roboto Slab Bold" pitchFamily="34" charset="0"/>
                <a:ea typeface="Roboto Slab Bold" pitchFamily="34" charset="-122"/>
                <a:cs typeface="Roboto Slab Bold" pitchFamily="34" charset="-120"/>
              </a:rPr>
              <a:t>Schedule and Manage</a:t>
            </a:r>
            <a:endParaRPr lang="en-US" sz="1350" dirty="0"/>
          </a:p>
        </p:txBody>
      </p:sp>
      <p:sp>
        <p:nvSpPr>
          <p:cNvPr id="16" name="Text 8"/>
          <p:cNvSpPr/>
          <p:nvPr/>
        </p:nvSpPr>
        <p:spPr>
          <a:xfrm>
            <a:off x="6611806" y="3355928"/>
            <a:ext cx="1439133" cy="753035"/>
          </a:xfrm>
          <a:prstGeom prst="rect">
            <a:avLst/>
          </a:prstGeom>
          <a:noFill/>
          <a:ln/>
        </p:spPr>
        <p:txBody>
          <a:bodyPr wrap="square" lIns="0" tIns="0" rIns="0" bIns="0" rtlCol="0" anchor="t"/>
          <a:lstStyle/>
          <a:p>
            <a:pPr marL="0" indent="0" algn="ctr">
              <a:lnSpc>
                <a:spcPts val="1350"/>
              </a:lnSpc>
              <a:buNone/>
            </a:pPr>
            <a:r>
              <a:rPr lang="en-US" sz="1050" dirty="0">
                <a:solidFill>
                  <a:srgbClr val="287170"/>
                </a:solidFill>
                <a:latin typeface="Roboto" pitchFamily="34" charset="0"/>
                <a:ea typeface="Roboto" pitchFamily="34" charset="-122"/>
                <a:cs typeface="Roboto" pitchFamily="34" charset="-120"/>
              </a:rPr>
              <a:t>Easily handle appointments and administrative tasks efficiently.</a:t>
            </a:r>
            <a:endParaRPr lang="en-US" sz="1050" dirty="0"/>
          </a:p>
        </p:txBody>
      </p:sp>
      <p:sp>
        <p:nvSpPr>
          <p:cNvPr id="17" name="Text 9"/>
          <p:cNvSpPr/>
          <p:nvPr/>
        </p:nvSpPr>
        <p:spPr>
          <a:xfrm>
            <a:off x="793790" y="7239833"/>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But what's holding us back from this level of transformative excellence?</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56285"/>
            <a:ext cx="5513546" cy="340162"/>
          </a:xfrm>
          <a:prstGeom prst="rect">
            <a:avLst/>
          </a:prstGeom>
          <a:noFill/>
          <a:ln/>
        </p:spPr>
        <p:txBody>
          <a:bodyPr wrap="none" lIns="0" tIns="0" rIns="0" bIns="0" rtlCol="0" anchor="t"/>
          <a:lstStyle/>
          <a:p>
            <a:pPr marL="0" indent="0" algn="l">
              <a:lnSpc>
                <a:spcPts val="2650"/>
              </a:lnSpc>
              <a:buNone/>
            </a:pPr>
            <a:r>
              <a:rPr lang="en-US" sz="2100" b="1" dirty="0">
                <a:solidFill>
                  <a:srgbClr val="03978F"/>
                </a:solidFill>
                <a:latin typeface="Roboto Slab Bold" pitchFamily="34" charset="0"/>
                <a:ea typeface="Roboto Slab Bold" pitchFamily="34" charset="-122"/>
                <a:cs typeface="Roboto Slab Bold" pitchFamily="34" charset="-120"/>
              </a:rPr>
              <a:t>An Abundance of Tasks &amp; Scarcity of Time</a:t>
            </a:r>
            <a:endParaRPr lang="en-US" sz="2100" dirty="0"/>
          </a:p>
        </p:txBody>
      </p:sp>
      <p:sp>
        <p:nvSpPr>
          <p:cNvPr id="4" name="Text 1"/>
          <p:cNvSpPr/>
          <p:nvPr/>
        </p:nvSpPr>
        <p:spPr>
          <a:xfrm>
            <a:off x="793790" y="1368623"/>
            <a:ext cx="7556421" cy="290274"/>
          </a:xfrm>
          <a:prstGeom prst="rect">
            <a:avLst/>
          </a:prstGeom>
          <a:noFill/>
          <a:ln/>
        </p:spPr>
        <p:txBody>
          <a:bodyPr wrap="none" lIns="0" tIns="0" rIns="0" bIns="0" rtlCol="0" anchor="t"/>
          <a:lstStyle/>
          <a:p>
            <a:pPr marL="0" indent="0" algn="l">
              <a:lnSpc>
                <a:spcPts val="2250"/>
              </a:lnSpc>
              <a:buNone/>
            </a:pPr>
            <a:endParaRPr lang="en-US" sz="1400" dirty="0"/>
          </a:p>
        </p:txBody>
      </p:sp>
      <p:sp>
        <p:nvSpPr>
          <p:cNvPr id="5" name="Text 2"/>
          <p:cNvSpPr/>
          <p:nvPr/>
        </p:nvSpPr>
        <p:spPr>
          <a:xfrm>
            <a:off x="793790" y="2142411"/>
            <a:ext cx="2448163" cy="362903"/>
          </a:xfrm>
          <a:prstGeom prst="rect">
            <a:avLst/>
          </a:prstGeom>
          <a:noFill/>
          <a:ln/>
        </p:spPr>
        <p:txBody>
          <a:bodyPr wrap="none" lIns="0" tIns="0" rIns="0" bIns="0" rtlCol="0" anchor="t"/>
          <a:lstStyle/>
          <a:p>
            <a:pPr marL="0" indent="0" algn="r">
              <a:lnSpc>
                <a:spcPts val="2850"/>
              </a:lnSpc>
              <a:buNone/>
            </a:pPr>
            <a:r>
              <a:rPr lang="en-US" sz="1750" dirty="0">
                <a:solidFill>
                  <a:srgbClr val="287170"/>
                </a:solidFill>
                <a:latin typeface="Roboto" pitchFamily="34" charset="0"/>
                <a:ea typeface="Roboto" pitchFamily="34" charset="-122"/>
                <a:cs typeface="Roboto" pitchFamily="34" charset="-120"/>
              </a:rPr>
              <a:t>Diagnostician</a:t>
            </a:r>
            <a:endParaRPr lang="en-US" sz="1750" dirty="0"/>
          </a:p>
        </p:txBody>
      </p:sp>
      <p:pic>
        <p:nvPicPr>
          <p:cNvPr id="6" name="Image 1" descr="preencoded.png"/>
          <p:cNvPicPr>
            <a:picLocks noChangeAspect="1"/>
          </p:cNvPicPr>
          <p:nvPr/>
        </p:nvPicPr>
        <p:blipFill>
          <a:blip r:embed="rId4"/>
          <a:stretch>
            <a:fillRect/>
          </a:stretch>
        </p:blipFill>
        <p:spPr>
          <a:xfrm>
            <a:off x="3514130" y="1862971"/>
            <a:ext cx="2115741" cy="2115741"/>
          </a:xfrm>
          <a:prstGeom prst="rect">
            <a:avLst/>
          </a:prstGeom>
        </p:spPr>
      </p:pic>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10382" y="2179201"/>
            <a:ext cx="271463" cy="271463"/>
          </a:xfrm>
          <a:prstGeom prst="rect">
            <a:avLst/>
          </a:prstGeom>
        </p:spPr>
      </p:pic>
      <p:sp>
        <p:nvSpPr>
          <p:cNvPr id="8" name="Text 3"/>
          <p:cNvSpPr/>
          <p:nvPr/>
        </p:nvSpPr>
        <p:spPr>
          <a:xfrm>
            <a:off x="5902047" y="2142411"/>
            <a:ext cx="2448163" cy="362903"/>
          </a:xfrm>
          <a:prstGeom prst="rect">
            <a:avLst/>
          </a:prstGeom>
          <a:noFill/>
          <a:ln/>
        </p:spPr>
        <p:txBody>
          <a:bodyPr wrap="non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Therapist</a:t>
            </a:r>
            <a:endParaRPr lang="en-US" sz="1750" dirty="0"/>
          </a:p>
        </p:txBody>
      </p:sp>
      <p:pic>
        <p:nvPicPr>
          <p:cNvPr id="9" name="Image 3" descr="preencoded.png"/>
          <p:cNvPicPr>
            <a:picLocks noChangeAspect="1"/>
          </p:cNvPicPr>
          <p:nvPr/>
        </p:nvPicPr>
        <p:blipFill>
          <a:blip r:embed="rId7"/>
          <a:stretch>
            <a:fillRect/>
          </a:stretch>
        </p:blipFill>
        <p:spPr>
          <a:xfrm>
            <a:off x="3514130" y="1862971"/>
            <a:ext cx="2115741" cy="2115741"/>
          </a:xfrm>
          <a:prstGeom prst="rect">
            <a:avLst/>
          </a:prstGeom>
        </p:spPr>
      </p:pic>
      <p:pic>
        <p:nvPicPr>
          <p:cNvPr id="10"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2059" y="2359223"/>
            <a:ext cx="271463" cy="271463"/>
          </a:xfrm>
          <a:prstGeom prst="rect">
            <a:avLst/>
          </a:prstGeom>
        </p:spPr>
      </p:pic>
      <p:sp>
        <p:nvSpPr>
          <p:cNvPr id="11" name="Text 4"/>
          <p:cNvSpPr/>
          <p:nvPr/>
        </p:nvSpPr>
        <p:spPr>
          <a:xfrm>
            <a:off x="5902047" y="3336369"/>
            <a:ext cx="2448163" cy="362903"/>
          </a:xfrm>
          <a:prstGeom prst="rect">
            <a:avLst/>
          </a:prstGeom>
          <a:noFill/>
          <a:ln/>
        </p:spPr>
        <p:txBody>
          <a:bodyPr wrap="non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Communicator</a:t>
            </a:r>
            <a:endParaRPr lang="en-US" sz="1750" dirty="0"/>
          </a:p>
        </p:txBody>
      </p:sp>
      <p:pic>
        <p:nvPicPr>
          <p:cNvPr id="12" name="Image 5" descr="preencoded.png"/>
          <p:cNvPicPr>
            <a:picLocks noChangeAspect="1"/>
          </p:cNvPicPr>
          <p:nvPr/>
        </p:nvPicPr>
        <p:blipFill>
          <a:blip r:embed="rId10"/>
          <a:stretch>
            <a:fillRect/>
          </a:stretch>
        </p:blipFill>
        <p:spPr>
          <a:xfrm>
            <a:off x="3514130" y="1862971"/>
            <a:ext cx="2115741" cy="2115741"/>
          </a:xfrm>
          <a:prstGeom prst="rect">
            <a:avLst/>
          </a:prstGeom>
        </p:spPr>
      </p:pic>
      <p:pic>
        <p:nvPicPr>
          <p:cNvPr id="13" name="Image 6"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62036" y="3390900"/>
            <a:ext cx="271463" cy="271463"/>
          </a:xfrm>
          <a:prstGeom prst="rect">
            <a:avLst/>
          </a:prstGeom>
        </p:spPr>
      </p:pic>
      <p:sp>
        <p:nvSpPr>
          <p:cNvPr id="14" name="Text 5"/>
          <p:cNvSpPr/>
          <p:nvPr/>
        </p:nvSpPr>
        <p:spPr>
          <a:xfrm>
            <a:off x="793790" y="3336369"/>
            <a:ext cx="2448163" cy="362903"/>
          </a:xfrm>
          <a:prstGeom prst="rect">
            <a:avLst/>
          </a:prstGeom>
          <a:noFill/>
          <a:ln/>
        </p:spPr>
        <p:txBody>
          <a:bodyPr wrap="none" lIns="0" tIns="0" rIns="0" bIns="0" rtlCol="0" anchor="t"/>
          <a:lstStyle/>
          <a:p>
            <a:pPr marL="0" indent="0" algn="r">
              <a:lnSpc>
                <a:spcPts val="2850"/>
              </a:lnSpc>
              <a:buNone/>
            </a:pPr>
            <a:r>
              <a:rPr lang="en-US" sz="1750" dirty="0">
                <a:solidFill>
                  <a:srgbClr val="287170"/>
                </a:solidFill>
                <a:latin typeface="Roboto" pitchFamily="34" charset="0"/>
                <a:ea typeface="Roboto" pitchFamily="34" charset="-122"/>
                <a:cs typeface="Roboto" pitchFamily="34" charset="-120"/>
              </a:rPr>
              <a:t>Administrator</a:t>
            </a:r>
            <a:endParaRPr lang="en-US" sz="1750" dirty="0"/>
          </a:p>
        </p:txBody>
      </p:sp>
      <p:pic>
        <p:nvPicPr>
          <p:cNvPr id="15" name="Image 7" descr="preencoded.png"/>
          <p:cNvPicPr>
            <a:picLocks noChangeAspect="1"/>
          </p:cNvPicPr>
          <p:nvPr/>
        </p:nvPicPr>
        <p:blipFill>
          <a:blip r:embed="rId13"/>
          <a:stretch>
            <a:fillRect/>
          </a:stretch>
        </p:blipFill>
        <p:spPr>
          <a:xfrm>
            <a:off x="3514130" y="1862971"/>
            <a:ext cx="2115741" cy="2115741"/>
          </a:xfrm>
          <a:prstGeom prst="rect">
            <a:avLst/>
          </a:prstGeom>
        </p:spPr>
      </p:pic>
      <p:pic>
        <p:nvPicPr>
          <p:cNvPr id="16" name="Image 8"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830360" y="3210877"/>
            <a:ext cx="271463" cy="271463"/>
          </a:xfrm>
          <a:prstGeom prst="rect">
            <a:avLst/>
          </a:prstGeom>
        </p:spPr>
      </p:pic>
      <p:sp>
        <p:nvSpPr>
          <p:cNvPr id="17" name="Text 6"/>
          <p:cNvSpPr/>
          <p:nvPr/>
        </p:nvSpPr>
        <p:spPr>
          <a:xfrm>
            <a:off x="793790" y="4250888"/>
            <a:ext cx="3050977" cy="340162"/>
          </a:xfrm>
          <a:prstGeom prst="rect">
            <a:avLst/>
          </a:prstGeom>
          <a:noFill/>
          <a:ln/>
        </p:spPr>
        <p:txBody>
          <a:bodyPr wrap="none" lIns="0" tIns="0" rIns="0" bIns="0" rtlCol="0" anchor="t"/>
          <a:lstStyle/>
          <a:p>
            <a:pPr marL="0" indent="0" algn="l">
              <a:lnSpc>
                <a:spcPts val="2650"/>
              </a:lnSpc>
              <a:buNone/>
            </a:pPr>
            <a:r>
              <a:rPr lang="en-US" sz="2100" b="1" dirty="0">
                <a:solidFill>
                  <a:srgbClr val="03978F"/>
                </a:solidFill>
                <a:latin typeface="Roboto Slab Bold" pitchFamily="34" charset="0"/>
                <a:ea typeface="Roboto Slab Bold" pitchFamily="34" charset="-122"/>
                <a:cs typeface="Roboto Slab Bold" pitchFamily="34" charset="-120"/>
              </a:rPr>
              <a:t>Data-Rich, Insight-Poor</a:t>
            </a:r>
            <a:endParaRPr lang="en-US" sz="2100" dirty="0"/>
          </a:p>
        </p:txBody>
      </p:sp>
      <p:sp>
        <p:nvSpPr>
          <p:cNvPr id="18" name="Text 7"/>
          <p:cNvSpPr/>
          <p:nvPr/>
        </p:nvSpPr>
        <p:spPr>
          <a:xfrm>
            <a:off x="793790" y="4863227"/>
            <a:ext cx="7556421" cy="290274"/>
          </a:xfrm>
          <a:prstGeom prst="rect">
            <a:avLst/>
          </a:prstGeom>
          <a:noFill/>
          <a:ln/>
        </p:spPr>
        <p:txBody>
          <a:bodyPr wrap="none" lIns="0" tIns="0" rIns="0" bIns="0" rtlCol="0" anchor="t"/>
          <a:lstStyle/>
          <a:p>
            <a:pPr marL="0" indent="0" algn="l">
              <a:lnSpc>
                <a:spcPts val="2250"/>
              </a:lnSpc>
              <a:buNone/>
            </a:pPr>
            <a:endParaRPr lang="en-US" sz="1400" dirty="0"/>
          </a:p>
        </p:txBody>
      </p:sp>
      <p:sp>
        <p:nvSpPr>
          <p:cNvPr id="19" name="Text 8"/>
          <p:cNvSpPr/>
          <p:nvPr/>
        </p:nvSpPr>
        <p:spPr>
          <a:xfrm>
            <a:off x="793790" y="5528191"/>
            <a:ext cx="2720340" cy="580549"/>
          </a:xfrm>
          <a:prstGeom prst="rect">
            <a:avLst/>
          </a:prstGeom>
          <a:noFill/>
          <a:ln/>
        </p:spPr>
        <p:txBody>
          <a:bodyPr wrap="square" lIns="0" tIns="0" rIns="0" bIns="0" rtlCol="0" anchor="t"/>
          <a:lstStyle/>
          <a:p>
            <a:pPr marL="0" indent="0" algn="r">
              <a:lnSpc>
                <a:spcPts val="2250"/>
              </a:lnSpc>
              <a:buNone/>
            </a:pPr>
            <a:r>
              <a:rPr lang="en-US" sz="1400" dirty="0">
                <a:solidFill>
                  <a:srgbClr val="287170"/>
                </a:solidFill>
                <a:latin typeface="Roboto" pitchFamily="34" charset="0"/>
                <a:ea typeface="Roboto" pitchFamily="34" charset="-122"/>
                <a:cs typeface="Roboto" pitchFamily="34" charset="-120"/>
              </a:rPr>
              <a:t>2-D radiograph, C.B.C.T. Clinical photos</a:t>
            </a:r>
            <a:endParaRPr lang="en-US" sz="1400" dirty="0"/>
          </a:p>
        </p:txBody>
      </p:sp>
      <p:pic>
        <p:nvPicPr>
          <p:cNvPr id="20" name="Image 9" descr="preencoded.png"/>
          <p:cNvPicPr>
            <a:picLocks noChangeAspect="1"/>
          </p:cNvPicPr>
          <p:nvPr/>
        </p:nvPicPr>
        <p:blipFill>
          <a:blip r:embed="rId16"/>
          <a:stretch>
            <a:fillRect/>
          </a:stretch>
        </p:blipFill>
        <p:spPr>
          <a:xfrm>
            <a:off x="3514130" y="5357574"/>
            <a:ext cx="2115741" cy="2115741"/>
          </a:xfrm>
          <a:prstGeom prst="rect">
            <a:avLst/>
          </a:prstGeom>
        </p:spPr>
      </p:pic>
      <p:pic>
        <p:nvPicPr>
          <p:cNvPr id="21" name="Image 10"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059079" y="5902523"/>
            <a:ext cx="255151" cy="255151"/>
          </a:xfrm>
          <a:prstGeom prst="rect">
            <a:avLst/>
          </a:prstGeom>
        </p:spPr>
      </p:pic>
      <p:sp>
        <p:nvSpPr>
          <p:cNvPr id="22" name="Text 9"/>
          <p:cNvSpPr/>
          <p:nvPr/>
        </p:nvSpPr>
        <p:spPr>
          <a:xfrm>
            <a:off x="5629870" y="5528191"/>
            <a:ext cx="2720340" cy="580549"/>
          </a:xfrm>
          <a:prstGeom prst="rect">
            <a:avLst/>
          </a:prstGeom>
          <a:noFill/>
          <a:ln/>
        </p:spPr>
        <p:txBody>
          <a:bodyPr wrap="square" lIns="0" tIns="0" rIns="0" bIns="0" rtlCol="0" anchor="t"/>
          <a:lstStyle/>
          <a:p>
            <a:pPr marL="0" indent="0" algn="l">
              <a:lnSpc>
                <a:spcPts val="2250"/>
              </a:lnSpc>
              <a:buNone/>
            </a:pPr>
            <a:r>
              <a:rPr lang="en-US" sz="1400" dirty="0">
                <a:solidFill>
                  <a:srgbClr val="287170"/>
                </a:solidFill>
                <a:latin typeface="Roboto" pitchFamily="34" charset="0"/>
                <a:ea typeface="Roboto" pitchFamily="34" charset="-122"/>
                <a:cs typeface="Roboto" pitchFamily="34" charset="-120"/>
              </a:rPr>
              <a:t>Patient's consultation and financial record</a:t>
            </a:r>
            <a:endParaRPr lang="en-US" sz="1400" dirty="0"/>
          </a:p>
        </p:txBody>
      </p:sp>
      <p:pic>
        <p:nvPicPr>
          <p:cNvPr id="23" name="Image 11" descr="preencoded.png"/>
          <p:cNvPicPr>
            <a:picLocks noChangeAspect="1"/>
          </p:cNvPicPr>
          <p:nvPr/>
        </p:nvPicPr>
        <p:blipFill>
          <a:blip r:embed="rId19"/>
          <a:stretch>
            <a:fillRect/>
          </a:stretch>
        </p:blipFill>
        <p:spPr>
          <a:xfrm>
            <a:off x="3514130" y="5357574"/>
            <a:ext cx="2115741" cy="2115741"/>
          </a:xfrm>
          <a:prstGeom prst="rect">
            <a:avLst/>
          </a:prstGeom>
        </p:spPr>
      </p:pic>
      <p:pic>
        <p:nvPicPr>
          <p:cNvPr id="24" name="Image 12" descr="preencoded.png"/>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829532" y="5902523"/>
            <a:ext cx="255151" cy="255151"/>
          </a:xfrm>
          <a:prstGeom prst="rect">
            <a:avLst/>
          </a:prstGeom>
        </p:spPr>
      </p:pic>
      <p:sp>
        <p:nvSpPr>
          <p:cNvPr id="25" name="Text 10"/>
          <p:cNvSpPr/>
          <p:nvPr/>
        </p:nvSpPr>
        <p:spPr>
          <a:xfrm>
            <a:off x="5629870" y="6722150"/>
            <a:ext cx="2720340" cy="580549"/>
          </a:xfrm>
          <a:prstGeom prst="rect">
            <a:avLst/>
          </a:prstGeom>
          <a:noFill/>
          <a:ln/>
        </p:spPr>
        <p:txBody>
          <a:bodyPr wrap="square" lIns="0" tIns="0" rIns="0" bIns="0" rtlCol="0" anchor="t"/>
          <a:lstStyle/>
          <a:p>
            <a:pPr marL="0" indent="0" algn="l">
              <a:lnSpc>
                <a:spcPts val="2250"/>
              </a:lnSpc>
              <a:buNone/>
            </a:pPr>
            <a:r>
              <a:rPr lang="en-US" sz="1400" dirty="0">
                <a:solidFill>
                  <a:srgbClr val="287170"/>
                </a:solidFill>
                <a:latin typeface="Roboto" pitchFamily="34" charset="0"/>
                <a:ea typeface="Roboto" pitchFamily="34" charset="-122"/>
                <a:cs typeface="Roboto" pitchFamily="34" charset="-120"/>
              </a:rPr>
              <a:t>Your knowledge Article references</a:t>
            </a:r>
            <a:endParaRPr lang="en-US" sz="1400" dirty="0"/>
          </a:p>
        </p:txBody>
      </p:sp>
      <p:pic>
        <p:nvPicPr>
          <p:cNvPr id="26" name="Image 13" descr="preencoded.png"/>
          <p:cNvPicPr>
            <a:picLocks noChangeAspect="1"/>
          </p:cNvPicPr>
          <p:nvPr/>
        </p:nvPicPr>
        <p:blipFill>
          <a:blip r:embed="rId22"/>
          <a:stretch>
            <a:fillRect/>
          </a:stretch>
        </p:blipFill>
        <p:spPr>
          <a:xfrm>
            <a:off x="3514130" y="5357574"/>
            <a:ext cx="2115741" cy="2115741"/>
          </a:xfrm>
          <a:prstGeom prst="rect">
            <a:avLst/>
          </a:prstGeom>
        </p:spPr>
      </p:pic>
      <p:pic>
        <p:nvPicPr>
          <p:cNvPr id="27" name="Image 14"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829532" y="6672977"/>
            <a:ext cx="255151" cy="255151"/>
          </a:xfrm>
          <a:prstGeom prst="rect">
            <a:avLst/>
          </a:prstGeom>
        </p:spPr>
      </p:pic>
      <p:sp>
        <p:nvSpPr>
          <p:cNvPr id="28" name="Text 11"/>
          <p:cNvSpPr/>
          <p:nvPr/>
        </p:nvSpPr>
        <p:spPr>
          <a:xfrm>
            <a:off x="793790" y="6722150"/>
            <a:ext cx="2720340" cy="580549"/>
          </a:xfrm>
          <a:prstGeom prst="rect">
            <a:avLst/>
          </a:prstGeom>
          <a:noFill/>
          <a:ln/>
        </p:spPr>
        <p:txBody>
          <a:bodyPr wrap="square" lIns="0" tIns="0" rIns="0" bIns="0" rtlCol="0" anchor="t"/>
          <a:lstStyle/>
          <a:p>
            <a:pPr marL="0" indent="0" algn="r">
              <a:lnSpc>
                <a:spcPts val="2250"/>
              </a:lnSpc>
              <a:buNone/>
            </a:pPr>
            <a:r>
              <a:rPr lang="en-US" sz="1400" dirty="0">
                <a:solidFill>
                  <a:srgbClr val="287170"/>
                </a:solidFill>
                <a:latin typeface="Roboto" pitchFamily="34" charset="0"/>
                <a:ea typeface="Roboto" pitchFamily="34" charset="-122"/>
                <a:cs typeface="Roboto" pitchFamily="34" charset="-120"/>
              </a:rPr>
              <a:t>Regular update clinic ledger, Assistant's management</a:t>
            </a:r>
            <a:endParaRPr lang="en-US" sz="1400" dirty="0"/>
          </a:p>
        </p:txBody>
      </p:sp>
      <p:pic>
        <p:nvPicPr>
          <p:cNvPr id="29" name="Image 15" descr="preencoded.png"/>
          <p:cNvPicPr>
            <a:picLocks noChangeAspect="1"/>
          </p:cNvPicPr>
          <p:nvPr/>
        </p:nvPicPr>
        <p:blipFill>
          <a:blip r:embed="rId25"/>
          <a:stretch>
            <a:fillRect/>
          </a:stretch>
        </p:blipFill>
        <p:spPr>
          <a:xfrm>
            <a:off x="3514130" y="5357574"/>
            <a:ext cx="2115741" cy="2115741"/>
          </a:xfrm>
          <a:prstGeom prst="rect">
            <a:avLst/>
          </a:prstGeom>
        </p:spPr>
      </p:pic>
      <p:pic>
        <p:nvPicPr>
          <p:cNvPr id="30" name="Image 16" descr="preencoded.png"/>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059079" y="6672977"/>
            <a:ext cx="255151" cy="2551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38770"/>
            <a:ext cx="7556421" cy="992267"/>
          </a:xfrm>
          <a:prstGeom prst="rect">
            <a:avLst/>
          </a:prstGeom>
          <a:noFill/>
          <a:ln/>
        </p:spPr>
        <p:txBody>
          <a:bodyPr wrap="square" lIns="0" tIns="0" rIns="0" bIns="0" rtlCol="0" anchor="t"/>
          <a:lstStyle/>
          <a:p>
            <a:pPr marL="0" indent="0" algn="l">
              <a:lnSpc>
                <a:spcPts val="3900"/>
              </a:lnSpc>
              <a:buNone/>
            </a:pPr>
            <a:r>
              <a:rPr lang="en-US" sz="3100" b="1" dirty="0">
                <a:solidFill>
                  <a:srgbClr val="03978F"/>
                </a:solidFill>
                <a:latin typeface="Roboto Slab Bold" pitchFamily="34" charset="0"/>
                <a:ea typeface="Roboto Slab Bold" pitchFamily="34" charset="-122"/>
                <a:cs typeface="Roboto Slab Bold" pitchFamily="34" charset="-120"/>
              </a:rPr>
              <a:t>Pyramid of reason for evolution of Dental Records</a:t>
            </a:r>
            <a:endParaRPr lang="en-US" sz="3100" dirty="0"/>
          </a:p>
        </p:txBody>
      </p:sp>
      <p:sp>
        <p:nvSpPr>
          <p:cNvPr id="4" name="Text 1"/>
          <p:cNvSpPr/>
          <p:nvPr/>
        </p:nvSpPr>
        <p:spPr>
          <a:xfrm>
            <a:off x="6280190" y="1869162"/>
            <a:ext cx="7556421" cy="508159"/>
          </a:xfrm>
          <a:prstGeom prst="rect">
            <a:avLst/>
          </a:prstGeom>
          <a:noFill/>
          <a:ln/>
        </p:spPr>
        <p:txBody>
          <a:bodyPr wrap="square" lIns="0" tIns="0" rIns="0" bIns="0" rtlCol="0" anchor="t"/>
          <a:lstStyle/>
          <a:p>
            <a:pPr marL="0" indent="0" algn="l">
              <a:lnSpc>
                <a:spcPts val="2000"/>
              </a:lnSpc>
              <a:buNone/>
            </a:pPr>
            <a:r>
              <a:rPr lang="en-US" sz="1250" dirty="0">
                <a:solidFill>
                  <a:srgbClr val="287170"/>
                </a:solidFill>
                <a:latin typeface="Roboto" pitchFamily="34" charset="0"/>
                <a:ea typeface="Roboto" pitchFamily="34" charset="-122"/>
                <a:cs typeface="Roboto" pitchFamily="34" charset="-120"/>
              </a:rPr>
              <a:t>For years, patient records primarily existed on paper, often as OPD cards entrusted to the patient. This system, while traditional, presented significant challenges for continuity of care and practice management.</a:t>
            </a:r>
            <a:endParaRPr lang="en-US" sz="1250" dirty="0"/>
          </a:p>
        </p:txBody>
      </p:sp>
      <p:pic>
        <p:nvPicPr>
          <p:cNvPr id="5" name="Image 1" descr="preencoded.png"/>
          <p:cNvPicPr>
            <a:picLocks noChangeAspect="1"/>
          </p:cNvPicPr>
          <p:nvPr/>
        </p:nvPicPr>
        <p:blipFill>
          <a:blip r:embed="rId4"/>
          <a:stretch>
            <a:fillRect/>
          </a:stretch>
        </p:blipFill>
        <p:spPr>
          <a:xfrm>
            <a:off x="7545824" y="2555915"/>
            <a:ext cx="1246703" cy="1422916"/>
          </a:xfrm>
          <a:prstGeom prst="rect">
            <a:avLst/>
          </a:prstGeom>
        </p:spPr>
      </p:pic>
      <p:sp>
        <p:nvSpPr>
          <p:cNvPr id="6" name="Text 2"/>
          <p:cNvSpPr/>
          <p:nvPr/>
        </p:nvSpPr>
        <p:spPr>
          <a:xfrm>
            <a:off x="8057555" y="3317319"/>
            <a:ext cx="223242" cy="279083"/>
          </a:xfrm>
          <a:prstGeom prst="rect">
            <a:avLst/>
          </a:prstGeom>
          <a:noFill/>
          <a:ln/>
        </p:spPr>
        <p:txBody>
          <a:bodyPr wrap="none" lIns="0" tIns="0" rIns="0" bIns="0" rtlCol="0" anchor="t"/>
          <a:lstStyle/>
          <a:p>
            <a:pPr marL="0" indent="0" algn="ctr">
              <a:lnSpc>
                <a:spcPts val="2800"/>
              </a:lnSpc>
              <a:buNone/>
            </a:pPr>
            <a:r>
              <a:rPr lang="en-US" sz="1750" b="1" dirty="0">
                <a:solidFill>
                  <a:srgbClr val="287170"/>
                </a:solidFill>
                <a:latin typeface="Roboto Slab Bold" pitchFamily="34" charset="0"/>
                <a:ea typeface="Roboto Slab Bold" pitchFamily="34" charset="-122"/>
                <a:cs typeface="Roboto Slab Bold" pitchFamily="34" charset="-120"/>
              </a:rPr>
              <a:t>1</a:t>
            </a:r>
            <a:endParaRPr lang="en-US" sz="1750" dirty="0"/>
          </a:p>
        </p:txBody>
      </p:sp>
      <p:sp>
        <p:nvSpPr>
          <p:cNvPr id="7" name="Text 3"/>
          <p:cNvSpPr/>
          <p:nvPr/>
        </p:nvSpPr>
        <p:spPr>
          <a:xfrm>
            <a:off x="8951238" y="2841665"/>
            <a:ext cx="2087999" cy="248007"/>
          </a:xfrm>
          <a:prstGeom prst="rect">
            <a:avLst/>
          </a:prstGeom>
          <a:noFill/>
          <a:ln/>
        </p:spPr>
        <p:txBody>
          <a:bodyPr wrap="none" lIns="0" tIns="0" rIns="0" bIns="0" rtlCol="0" anchor="t"/>
          <a:lstStyle/>
          <a:p>
            <a:pPr marL="0" indent="0" algn="l">
              <a:lnSpc>
                <a:spcPts val="1950"/>
              </a:lnSpc>
              <a:buNone/>
            </a:pPr>
            <a:r>
              <a:rPr lang="en-US" sz="1550" b="1" dirty="0">
                <a:solidFill>
                  <a:srgbClr val="287170"/>
                </a:solidFill>
                <a:latin typeface="Roboto Slab Bold" pitchFamily="34" charset="0"/>
                <a:ea typeface="Roboto Slab Bold" pitchFamily="34" charset="-122"/>
                <a:cs typeface="Roboto Slab Bold" pitchFamily="34" charset="-120"/>
              </a:rPr>
              <a:t>Lack of Centralization</a:t>
            </a:r>
            <a:endParaRPr lang="en-US" sz="1550" dirty="0"/>
          </a:p>
        </p:txBody>
      </p:sp>
      <p:sp>
        <p:nvSpPr>
          <p:cNvPr id="8" name="Text 4"/>
          <p:cNvSpPr/>
          <p:nvPr/>
        </p:nvSpPr>
        <p:spPr>
          <a:xfrm>
            <a:off x="8951238" y="3184922"/>
            <a:ext cx="4726662" cy="508159"/>
          </a:xfrm>
          <a:prstGeom prst="rect">
            <a:avLst/>
          </a:prstGeom>
          <a:noFill/>
          <a:ln/>
        </p:spPr>
        <p:txBody>
          <a:bodyPr wrap="square" lIns="0" tIns="0" rIns="0" bIns="0" rtlCol="0" anchor="t"/>
          <a:lstStyle/>
          <a:p>
            <a:pPr marL="0" indent="0" algn="l">
              <a:lnSpc>
                <a:spcPts val="2000"/>
              </a:lnSpc>
              <a:buNone/>
            </a:pPr>
            <a:r>
              <a:rPr lang="en-US" sz="1250" dirty="0">
                <a:solidFill>
                  <a:srgbClr val="287170"/>
                </a:solidFill>
                <a:latin typeface="Roboto" pitchFamily="34" charset="0"/>
                <a:ea typeface="Roboto" pitchFamily="34" charset="-122"/>
                <a:cs typeface="Roboto" pitchFamily="34" charset="-120"/>
              </a:rPr>
              <a:t>Data was scattered, making it difficult to access comprehensive patient histories or conduct broader practice analysis.</a:t>
            </a:r>
            <a:endParaRPr lang="en-US" sz="1250" dirty="0"/>
          </a:p>
        </p:txBody>
      </p:sp>
      <p:sp>
        <p:nvSpPr>
          <p:cNvPr id="9" name="Shape 5"/>
          <p:cNvSpPr/>
          <p:nvPr/>
        </p:nvSpPr>
        <p:spPr>
          <a:xfrm>
            <a:off x="8832175" y="3989070"/>
            <a:ext cx="4964787" cy="11430"/>
          </a:xfrm>
          <a:prstGeom prst="roundRect">
            <a:avLst>
              <a:gd name="adj" fmla="val 583442"/>
            </a:avLst>
          </a:prstGeom>
          <a:solidFill>
            <a:srgbClr val="B4E3E0"/>
          </a:solidFill>
          <a:ln/>
        </p:spPr>
      </p:sp>
      <p:pic>
        <p:nvPicPr>
          <p:cNvPr id="10" name="Image 2" descr="preencoded.png"/>
          <p:cNvPicPr>
            <a:picLocks noChangeAspect="1"/>
          </p:cNvPicPr>
          <p:nvPr/>
        </p:nvPicPr>
        <p:blipFill>
          <a:blip r:embed="rId5"/>
          <a:stretch>
            <a:fillRect/>
          </a:stretch>
        </p:blipFill>
        <p:spPr>
          <a:xfrm>
            <a:off x="6922413" y="4018478"/>
            <a:ext cx="2493526" cy="1422916"/>
          </a:xfrm>
          <a:prstGeom prst="rect">
            <a:avLst/>
          </a:prstGeom>
        </p:spPr>
      </p:pic>
      <p:sp>
        <p:nvSpPr>
          <p:cNvPr id="11" name="Text 6"/>
          <p:cNvSpPr/>
          <p:nvPr/>
        </p:nvSpPr>
        <p:spPr>
          <a:xfrm>
            <a:off x="8057436" y="4590336"/>
            <a:ext cx="223242" cy="279083"/>
          </a:xfrm>
          <a:prstGeom prst="rect">
            <a:avLst/>
          </a:prstGeom>
          <a:noFill/>
          <a:ln/>
        </p:spPr>
        <p:txBody>
          <a:bodyPr wrap="none" lIns="0" tIns="0" rIns="0" bIns="0" rtlCol="0" anchor="t"/>
          <a:lstStyle/>
          <a:p>
            <a:pPr marL="0" indent="0" algn="ctr">
              <a:lnSpc>
                <a:spcPts val="2800"/>
              </a:lnSpc>
              <a:buNone/>
            </a:pPr>
            <a:r>
              <a:rPr lang="en-US" sz="1750" b="1" dirty="0">
                <a:solidFill>
                  <a:srgbClr val="287170"/>
                </a:solidFill>
                <a:latin typeface="Roboto Slab Bold" pitchFamily="34" charset="0"/>
                <a:ea typeface="Roboto Slab Bold" pitchFamily="34" charset="-122"/>
                <a:cs typeface="Roboto Slab Bold" pitchFamily="34" charset="-120"/>
              </a:rPr>
              <a:t>2</a:t>
            </a:r>
            <a:endParaRPr lang="en-US" sz="1750" dirty="0"/>
          </a:p>
        </p:txBody>
      </p:sp>
      <p:sp>
        <p:nvSpPr>
          <p:cNvPr id="12" name="Text 7"/>
          <p:cNvSpPr/>
          <p:nvPr/>
        </p:nvSpPr>
        <p:spPr>
          <a:xfrm>
            <a:off x="9574649" y="4304228"/>
            <a:ext cx="2002036" cy="248007"/>
          </a:xfrm>
          <a:prstGeom prst="rect">
            <a:avLst/>
          </a:prstGeom>
          <a:noFill/>
          <a:ln/>
        </p:spPr>
        <p:txBody>
          <a:bodyPr wrap="none" lIns="0" tIns="0" rIns="0" bIns="0" rtlCol="0" anchor="t"/>
          <a:lstStyle/>
          <a:p>
            <a:pPr marL="0" indent="0" algn="l">
              <a:lnSpc>
                <a:spcPts val="1950"/>
              </a:lnSpc>
              <a:buNone/>
            </a:pPr>
            <a:r>
              <a:rPr lang="en-US" sz="1550" b="1" dirty="0">
                <a:solidFill>
                  <a:srgbClr val="287170"/>
                </a:solidFill>
                <a:latin typeface="Roboto Slab Bold" pitchFamily="34" charset="0"/>
                <a:ea typeface="Roboto Slab Bold" pitchFamily="34" charset="-122"/>
                <a:cs typeface="Roboto Slab Bold" pitchFamily="34" charset="-120"/>
              </a:rPr>
              <a:t>Manual Data Capture</a:t>
            </a:r>
            <a:endParaRPr lang="en-US" sz="1550" dirty="0"/>
          </a:p>
        </p:txBody>
      </p:sp>
      <p:sp>
        <p:nvSpPr>
          <p:cNvPr id="13" name="Text 8"/>
          <p:cNvSpPr/>
          <p:nvPr/>
        </p:nvSpPr>
        <p:spPr>
          <a:xfrm>
            <a:off x="9574649" y="4647486"/>
            <a:ext cx="4103251" cy="508159"/>
          </a:xfrm>
          <a:prstGeom prst="rect">
            <a:avLst/>
          </a:prstGeom>
          <a:noFill/>
          <a:ln/>
        </p:spPr>
        <p:txBody>
          <a:bodyPr wrap="square" lIns="0" tIns="0" rIns="0" bIns="0" rtlCol="0" anchor="t"/>
          <a:lstStyle/>
          <a:p>
            <a:pPr marL="0" indent="0" algn="l">
              <a:lnSpc>
                <a:spcPts val="2000"/>
              </a:lnSpc>
              <a:buNone/>
            </a:pPr>
            <a:r>
              <a:rPr lang="en-US" sz="1250" dirty="0">
                <a:solidFill>
                  <a:srgbClr val="287170"/>
                </a:solidFill>
                <a:latin typeface="Roboto" pitchFamily="34" charset="0"/>
                <a:ea typeface="Roboto" pitchFamily="34" charset="-122"/>
                <a:cs typeface="Roboto" pitchFamily="34" charset="-120"/>
              </a:rPr>
              <a:t>Dentists often resorted to photographing paper cards, creating fragmented and inefficient digital archives.</a:t>
            </a:r>
            <a:endParaRPr lang="en-US" sz="1250" dirty="0"/>
          </a:p>
        </p:txBody>
      </p:sp>
      <p:sp>
        <p:nvSpPr>
          <p:cNvPr id="14" name="Shape 9"/>
          <p:cNvSpPr/>
          <p:nvPr/>
        </p:nvSpPr>
        <p:spPr>
          <a:xfrm>
            <a:off x="9455587" y="5451634"/>
            <a:ext cx="4341376" cy="11430"/>
          </a:xfrm>
          <a:prstGeom prst="roundRect">
            <a:avLst>
              <a:gd name="adj" fmla="val 583442"/>
            </a:avLst>
          </a:prstGeom>
          <a:solidFill>
            <a:srgbClr val="B4E3E0"/>
          </a:solidFill>
          <a:ln/>
        </p:spPr>
      </p:sp>
      <p:pic>
        <p:nvPicPr>
          <p:cNvPr id="15" name="Image 3" descr="preencoded.png"/>
          <p:cNvPicPr>
            <a:picLocks noChangeAspect="1"/>
          </p:cNvPicPr>
          <p:nvPr/>
        </p:nvPicPr>
        <p:blipFill>
          <a:blip r:embed="rId6"/>
          <a:stretch>
            <a:fillRect/>
          </a:stretch>
        </p:blipFill>
        <p:spPr>
          <a:xfrm>
            <a:off x="6299002" y="5481042"/>
            <a:ext cx="3740348" cy="1422916"/>
          </a:xfrm>
          <a:prstGeom prst="rect">
            <a:avLst/>
          </a:prstGeom>
        </p:spPr>
      </p:pic>
      <p:sp>
        <p:nvSpPr>
          <p:cNvPr id="16" name="Text 10"/>
          <p:cNvSpPr/>
          <p:nvPr/>
        </p:nvSpPr>
        <p:spPr>
          <a:xfrm>
            <a:off x="8057436" y="6052899"/>
            <a:ext cx="223242" cy="279083"/>
          </a:xfrm>
          <a:prstGeom prst="rect">
            <a:avLst/>
          </a:prstGeom>
          <a:noFill/>
          <a:ln/>
        </p:spPr>
        <p:txBody>
          <a:bodyPr wrap="none" lIns="0" tIns="0" rIns="0" bIns="0" rtlCol="0" anchor="t"/>
          <a:lstStyle/>
          <a:p>
            <a:pPr marL="0" indent="0" algn="ctr">
              <a:lnSpc>
                <a:spcPts val="2800"/>
              </a:lnSpc>
              <a:buNone/>
            </a:pPr>
            <a:r>
              <a:rPr lang="en-US" sz="1750" b="1" dirty="0">
                <a:solidFill>
                  <a:srgbClr val="287170"/>
                </a:solidFill>
                <a:latin typeface="Roboto Slab Bold" pitchFamily="34" charset="0"/>
                <a:ea typeface="Roboto Slab Bold" pitchFamily="34" charset="-122"/>
                <a:cs typeface="Roboto Slab Bold" pitchFamily="34" charset="-120"/>
              </a:rPr>
              <a:t>3</a:t>
            </a:r>
            <a:endParaRPr lang="en-US" sz="1750" dirty="0"/>
          </a:p>
        </p:txBody>
      </p:sp>
      <p:sp>
        <p:nvSpPr>
          <p:cNvPr id="17" name="Text 11"/>
          <p:cNvSpPr/>
          <p:nvPr/>
        </p:nvSpPr>
        <p:spPr>
          <a:xfrm>
            <a:off x="10198060" y="5639753"/>
            <a:ext cx="2168247" cy="248007"/>
          </a:xfrm>
          <a:prstGeom prst="rect">
            <a:avLst/>
          </a:prstGeom>
          <a:noFill/>
          <a:ln/>
        </p:spPr>
        <p:txBody>
          <a:bodyPr wrap="none" lIns="0" tIns="0" rIns="0" bIns="0" rtlCol="0" anchor="t"/>
          <a:lstStyle/>
          <a:p>
            <a:pPr marL="0" indent="0" algn="l">
              <a:lnSpc>
                <a:spcPts val="1950"/>
              </a:lnSpc>
              <a:buNone/>
            </a:pPr>
            <a:r>
              <a:rPr lang="en-US" sz="1550" b="1" dirty="0">
                <a:solidFill>
                  <a:srgbClr val="287170"/>
                </a:solidFill>
                <a:latin typeface="Roboto Slab Bold" pitchFamily="34" charset="0"/>
                <a:ea typeface="Roboto Slab Bold" pitchFamily="34" charset="-122"/>
                <a:cs typeface="Roboto Slab Bold" pitchFamily="34" charset="-120"/>
              </a:rPr>
              <a:t>Lost or Damaged Cards</a:t>
            </a:r>
            <a:endParaRPr lang="en-US" sz="1550" dirty="0"/>
          </a:p>
        </p:txBody>
      </p:sp>
      <p:sp>
        <p:nvSpPr>
          <p:cNvPr id="18" name="Text 12"/>
          <p:cNvSpPr/>
          <p:nvPr/>
        </p:nvSpPr>
        <p:spPr>
          <a:xfrm>
            <a:off x="10198060" y="5983010"/>
            <a:ext cx="3479840" cy="762238"/>
          </a:xfrm>
          <a:prstGeom prst="rect">
            <a:avLst/>
          </a:prstGeom>
          <a:noFill/>
          <a:ln/>
        </p:spPr>
        <p:txBody>
          <a:bodyPr wrap="square" lIns="0" tIns="0" rIns="0" bIns="0" rtlCol="0" anchor="t"/>
          <a:lstStyle/>
          <a:p>
            <a:pPr marL="0" indent="0" algn="l">
              <a:lnSpc>
                <a:spcPts val="2000"/>
              </a:lnSpc>
              <a:buNone/>
            </a:pPr>
            <a:r>
              <a:rPr lang="en-US" sz="1250" dirty="0">
                <a:solidFill>
                  <a:srgbClr val="287170"/>
                </a:solidFill>
                <a:latin typeface="Roboto" pitchFamily="34" charset="0"/>
                <a:ea typeface="Roboto" pitchFamily="34" charset="-122"/>
                <a:cs typeface="Roboto" pitchFamily="34" charset="-120"/>
              </a:rPr>
              <a:t>Patients frequently arrived with lost, torn, or incomplete records, leading to gaps in essential medical history.</a:t>
            </a:r>
            <a:endParaRPr lang="en-US" sz="1250" dirty="0"/>
          </a:p>
        </p:txBody>
      </p:sp>
      <p:sp>
        <p:nvSpPr>
          <p:cNvPr id="19" name="Text 13"/>
          <p:cNvSpPr/>
          <p:nvPr/>
        </p:nvSpPr>
        <p:spPr>
          <a:xfrm>
            <a:off x="6280190" y="7082552"/>
            <a:ext cx="7556421" cy="508159"/>
          </a:xfrm>
          <a:prstGeom prst="rect">
            <a:avLst/>
          </a:prstGeom>
          <a:noFill/>
          <a:ln/>
        </p:spPr>
        <p:txBody>
          <a:bodyPr wrap="square" lIns="0" tIns="0" rIns="0" bIns="0" rtlCol="0" anchor="t"/>
          <a:lstStyle/>
          <a:p>
            <a:pPr marL="0" indent="0" algn="l">
              <a:lnSpc>
                <a:spcPts val="2000"/>
              </a:lnSpc>
              <a:buNone/>
            </a:pPr>
            <a:r>
              <a:rPr lang="en-US" sz="1250" dirty="0">
                <a:solidFill>
                  <a:srgbClr val="287170"/>
                </a:solidFill>
                <a:latin typeface="Roboto" pitchFamily="34" charset="0"/>
                <a:ea typeface="Roboto" pitchFamily="34" charset="-122"/>
                <a:cs typeface="Roboto" pitchFamily="34" charset="-120"/>
              </a:rPr>
              <a:t>The clear need for a more robust, centralized system led to the advent of digital Practice Management Software (PMS) to streamline clinic operations.</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01410" y="647759"/>
            <a:ext cx="7556421" cy="1063228"/>
          </a:xfrm>
          <a:prstGeom prst="rect">
            <a:avLst/>
          </a:prstGeom>
          <a:noFill/>
          <a:ln/>
        </p:spPr>
        <p:txBody>
          <a:bodyPr wrap="square" lIns="0" tIns="0" rIns="0" bIns="0" rtlCol="0" anchor="t"/>
          <a:lstStyle/>
          <a:p>
            <a:pPr marL="0" indent="0" algn="l">
              <a:lnSpc>
                <a:spcPts val="4150"/>
              </a:lnSpc>
              <a:buNone/>
            </a:pPr>
            <a:r>
              <a:rPr lang="en-US" sz="3300" b="1" dirty="0">
                <a:solidFill>
                  <a:srgbClr val="03978F"/>
                </a:solidFill>
                <a:latin typeface="Roboto Slab Bold" pitchFamily="34" charset="0"/>
                <a:ea typeface="Roboto Slab Bold" pitchFamily="34" charset="-122"/>
                <a:cs typeface="Roboto Slab Bold" pitchFamily="34" charset="-120"/>
              </a:rPr>
              <a:t>Addressing the Challenges: The Rise of Dental Software Solutions</a:t>
            </a:r>
            <a:endParaRPr lang="en-US" sz="3300" dirty="0"/>
          </a:p>
        </p:txBody>
      </p:sp>
      <p:sp>
        <p:nvSpPr>
          <p:cNvPr id="4" name="Text 1"/>
          <p:cNvSpPr/>
          <p:nvPr/>
        </p:nvSpPr>
        <p:spPr>
          <a:xfrm>
            <a:off x="793790" y="2007691"/>
            <a:ext cx="7556421" cy="1088708"/>
          </a:xfrm>
          <a:prstGeom prst="rect">
            <a:avLst/>
          </a:prstGeom>
          <a:noFill/>
          <a:ln/>
        </p:spPr>
        <p:txBody>
          <a:bodyPr wrap="square" lIns="0" tIns="0" rIns="0" bIns="0" rtlCol="0" anchor="t"/>
          <a:lstStyle/>
          <a:p>
            <a:pPr marL="0" indent="0" algn="l">
              <a:lnSpc>
                <a:spcPts val="2100"/>
              </a:lnSpc>
              <a:buNone/>
            </a:pPr>
            <a:r>
              <a:rPr lang="en-US" sz="1300" dirty="0">
                <a:solidFill>
                  <a:srgbClr val="287170"/>
                </a:solidFill>
                <a:latin typeface="Roboto" pitchFamily="34" charset="0"/>
                <a:ea typeface="Roboto" pitchFamily="34" charset="-122"/>
                <a:cs typeface="Roboto" pitchFamily="34" charset="-120"/>
              </a:rPr>
              <a:t>To navigate the complex landscape of modern endodontic practice and reduce friction, a variety of software solutions have emerged. These tools aim to streamline operations, manage data, and enhance clinical decision-making. We'll explore two main categories that have become integral to dental offices today.</a:t>
            </a:r>
            <a:endParaRPr lang="en-US" sz="1300" dirty="0"/>
          </a:p>
        </p:txBody>
      </p:sp>
      <p:sp>
        <p:nvSpPr>
          <p:cNvPr id="5" name="Text 2"/>
          <p:cNvSpPr/>
          <p:nvPr/>
        </p:nvSpPr>
        <p:spPr>
          <a:xfrm>
            <a:off x="793790" y="3639503"/>
            <a:ext cx="3570684" cy="637699"/>
          </a:xfrm>
          <a:prstGeom prst="rect">
            <a:avLst/>
          </a:prstGeom>
          <a:noFill/>
          <a:ln/>
        </p:spPr>
        <p:txBody>
          <a:bodyPr wrap="square" lIns="0" tIns="0" rIns="0" bIns="0" rtlCol="0" anchor="t"/>
          <a:lstStyle/>
          <a:p>
            <a:pPr marL="0" indent="0" algn="l">
              <a:lnSpc>
                <a:spcPts val="2500"/>
              </a:lnSpc>
              <a:buNone/>
            </a:pPr>
            <a:r>
              <a:rPr lang="en-US" sz="2000" b="1" dirty="0">
                <a:solidFill>
                  <a:srgbClr val="03978F"/>
                </a:solidFill>
                <a:latin typeface="Roboto Slab Bold" pitchFamily="34" charset="0"/>
                <a:ea typeface="Roboto Slab Bold" pitchFamily="34" charset="-122"/>
                <a:cs typeface="Roboto Slab Bold" pitchFamily="34" charset="-120"/>
              </a:rPr>
              <a:t>Existing Dental Software Solutions</a:t>
            </a:r>
            <a:endParaRPr lang="en-US" sz="2000" dirty="0"/>
          </a:p>
        </p:txBody>
      </p:sp>
      <p:pic>
        <p:nvPicPr>
          <p:cNvPr id="6" name="Image 1" descr="preencoded.png"/>
          <p:cNvPicPr>
            <a:picLocks noChangeAspect="1"/>
          </p:cNvPicPr>
          <p:nvPr/>
        </p:nvPicPr>
        <p:blipFill>
          <a:blip r:embed="rId4"/>
          <a:stretch>
            <a:fillRect/>
          </a:stretch>
        </p:blipFill>
        <p:spPr>
          <a:xfrm>
            <a:off x="906780" y="4610457"/>
            <a:ext cx="984409" cy="378500"/>
          </a:xfrm>
          <a:prstGeom prst="rect">
            <a:avLst/>
          </a:prstGeom>
        </p:spPr>
      </p:pic>
      <p:pic>
        <p:nvPicPr>
          <p:cNvPr id="7" name="Image 2" descr="preencoded.png"/>
          <p:cNvPicPr>
            <a:picLocks noChangeAspect="1"/>
          </p:cNvPicPr>
          <p:nvPr/>
        </p:nvPicPr>
        <p:blipFill>
          <a:blip r:embed="rId5"/>
          <a:stretch>
            <a:fillRect/>
          </a:stretch>
        </p:blipFill>
        <p:spPr>
          <a:xfrm>
            <a:off x="2027277" y="4610457"/>
            <a:ext cx="820103" cy="378500"/>
          </a:xfrm>
          <a:prstGeom prst="rect">
            <a:avLst/>
          </a:prstGeom>
        </p:spPr>
      </p:pic>
      <p:pic>
        <p:nvPicPr>
          <p:cNvPr id="8" name="Image 3" descr="preencoded.png"/>
          <p:cNvPicPr>
            <a:picLocks noChangeAspect="1"/>
          </p:cNvPicPr>
          <p:nvPr/>
        </p:nvPicPr>
        <p:blipFill>
          <a:blip r:embed="rId6"/>
          <a:stretch>
            <a:fillRect/>
          </a:stretch>
        </p:blipFill>
        <p:spPr>
          <a:xfrm>
            <a:off x="2983468" y="4610457"/>
            <a:ext cx="1267897" cy="378500"/>
          </a:xfrm>
          <a:prstGeom prst="rect">
            <a:avLst/>
          </a:prstGeom>
        </p:spPr>
      </p:pic>
      <p:pic>
        <p:nvPicPr>
          <p:cNvPr id="9" name="Image 4" descr="preencoded.png"/>
          <p:cNvPicPr>
            <a:picLocks noChangeAspect="1"/>
          </p:cNvPicPr>
          <p:nvPr/>
        </p:nvPicPr>
        <p:blipFill>
          <a:blip r:embed="rId7"/>
          <a:stretch>
            <a:fillRect/>
          </a:stretch>
        </p:blipFill>
        <p:spPr>
          <a:xfrm>
            <a:off x="1190863" y="5125045"/>
            <a:ext cx="1467326" cy="378500"/>
          </a:xfrm>
          <a:prstGeom prst="rect">
            <a:avLst/>
          </a:prstGeom>
        </p:spPr>
      </p:pic>
      <p:pic>
        <p:nvPicPr>
          <p:cNvPr id="10" name="Image 5" descr="preencoded.png"/>
          <p:cNvPicPr>
            <a:picLocks noChangeAspect="1"/>
          </p:cNvPicPr>
          <p:nvPr/>
        </p:nvPicPr>
        <p:blipFill>
          <a:blip r:embed="rId8"/>
          <a:stretch>
            <a:fillRect/>
          </a:stretch>
        </p:blipFill>
        <p:spPr>
          <a:xfrm>
            <a:off x="2794278" y="5125045"/>
            <a:ext cx="1003102" cy="378500"/>
          </a:xfrm>
          <a:prstGeom prst="rect">
            <a:avLst/>
          </a:prstGeom>
        </p:spPr>
      </p:pic>
      <p:pic>
        <p:nvPicPr>
          <p:cNvPr id="11" name="Image 6" descr="preencoded.png"/>
          <p:cNvPicPr>
            <a:picLocks noChangeAspect="1"/>
          </p:cNvPicPr>
          <p:nvPr/>
        </p:nvPicPr>
        <p:blipFill>
          <a:blip r:embed="rId9"/>
          <a:stretch>
            <a:fillRect/>
          </a:stretch>
        </p:blipFill>
        <p:spPr>
          <a:xfrm>
            <a:off x="1228844" y="5639633"/>
            <a:ext cx="1225272" cy="378500"/>
          </a:xfrm>
          <a:prstGeom prst="rect">
            <a:avLst/>
          </a:prstGeom>
        </p:spPr>
      </p:pic>
      <p:pic>
        <p:nvPicPr>
          <p:cNvPr id="12" name="Image 7" descr="preencoded.png"/>
          <p:cNvPicPr>
            <a:picLocks noChangeAspect="1"/>
          </p:cNvPicPr>
          <p:nvPr/>
        </p:nvPicPr>
        <p:blipFill>
          <a:blip r:embed="rId10"/>
          <a:stretch>
            <a:fillRect/>
          </a:stretch>
        </p:blipFill>
        <p:spPr>
          <a:xfrm>
            <a:off x="2590205" y="5639633"/>
            <a:ext cx="1339215" cy="378500"/>
          </a:xfrm>
          <a:prstGeom prst="rect">
            <a:avLst/>
          </a:prstGeom>
        </p:spPr>
      </p:pic>
      <p:pic>
        <p:nvPicPr>
          <p:cNvPr id="13" name="Image 8" descr="preencoded.png"/>
          <p:cNvPicPr>
            <a:picLocks noChangeAspect="1"/>
          </p:cNvPicPr>
          <p:nvPr/>
        </p:nvPicPr>
        <p:blipFill>
          <a:blip r:embed="rId11"/>
          <a:stretch>
            <a:fillRect/>
          </a:stretch>
        </p:blipFill>
        <p:spPr>
          <a:xfrm>
            <a:off x="1469052" y="6375202"/>
            <a:ext cx="5605579" cy="1341045"/>
          </a:xfrm>
          <a:prstGeom prst="rect">
            <a:avLst/>
          </a:prstGeom>
        </p:spPr>
      </p:pic>
      <p:sp>
        <p:nvSpPr>
          <p:cNvPr id="14" name="Text 3"/>
          <p:cNvSpPr/>
          <p:nvPr/>
        </p:nvSpPr>
        <p:spPr>
          <a:xfrm>
            <a:off x="4787146" y="3639503"/>
            <a:ext cx="3494961" cy="318849"/>
          </a:xfrm>
          <a:prstGeom prst="rect">
            <a:avLst/>
          </a:prstGeom>
          <a:noFill/>
          <a:ln/>
        </p:spPr>
        <p:txBody>
          <a:bodyPr wrap="none" lIns="0" tIns="0" rIns="0" bIns="0" rtlCol="0" anchor="t"/>
          <a:lstStyle/>
          <a:p>
            <a:pPr marL="0" indent="0" algn="l">
              <a:lnSpc>
                <a:spcPts val="2500"/>
              </a:lnSpc>
              <a:buNone/>
            </a:pPr>
            <a:r>
              <a:rPr lang="en-US" sz="2000" b="1" dirty="0">
                <a:solidFill>
                  <a:srgbClr val="03978F"/>
                </a:solidFill>
                <a:latin typeface="Roboto Slab Bold" pitchFamily="34" charset="0"/>
                <a:ea typeface="Roboto Slab Bold" pitchFamily="34" charset="-122"/>
                <a:cs typeface="Roboto Slab Bold" pitchFamily="34" charset="-120"/>
              </a:rPr>
              <a:t>AI-Powered Dental Solutions</a:t>
            </a:r>
            <a:endParaRPr lang="en-US" sz="2000" dirty="0"/>
          </a:p>
        </p:txBody>
      </p:sp>
      <p:pic>
        <p:nvPicPr>
          <p:cNvPr id="15" name="Image 9" descr="preencoded.png"/>
          <p:cNvPicPr>
            <a:picLocks noChangeAspect="1"/>
          </p:cNvPicPr>
          <p:nvPr/>
        </p:nvPicPr>
        <p:blipFill>
          <a:blip r:embed="rId12"/>
          <a:stretch>
            <a:fillRect/>
          </a:stretch>
        </p:blipFill>
        <p:spPr>
          <a:xfrm>
            <a:off x="5097780" y="4291608"/>
            <a:ext cx="1310997" cy="684728"/>
          </a:xfrm>
          <a:prstGeom prst="rect">
            <a:avLst/>
          </a:prstGeom>
        </p:spPr>
      </p:pic>
      <p:pic>
        <p:nvPicPr>
          <p:cNvPr id="16" name="Image 10" descr="preencoded.png"/>
          <p:cNvPicPr>
            <a:picLocks noChangeAspect="1"/>
          </p:cNvPicPr>
          <p:nvPr/>
        </p:nvPicPr>
        <p:blipFill>
          <a:blip r:embed="rId13"/>
          <a:stretch>
            <a:fillRect/>
          </a:stretch>
        </p:blipFill>
        <p:spPr>
          <a:xfrm>
            <a:off x="6544866" y="4291608"/>
            <a:ext cx="1502212" cy="684728"/>
          </a:xfrm>
          <a:prstGeom prst="rect">
            <a:avLst/>
          </a:prstGeom>
        </p:spPr>
      </p:pic>
      <p:pic>
        <p:nvPicPr>
          <p:cNvPr id="18" name="Image 12" descr="preencoded.png"/>
          <p:cNvPicPr>
            <a:picLocks noChangeAspect="1"/>
          </p:cNvPicPr>
          <p:nvPr/>
        </p:nvPicPr>
        <p:blipFill>
          <a:blip r:embed="rId14"/>
          <a:stretch>
            <a:fillRect/>
          </a:stretch>
        </p:blipFill>
        <p:spPr>
          <a:xfrm>
            <a:off x="5097780" y="5333405"/>
            <a:ext cx="1314093" cy="684728"/>
          </a:xfrm>
          <a:prstGeom prst="rect">
            <a:avLst/>
          </a:prstGeom>
        </p:spPr>
      </p:pic>
      <p:pic>
        <p:nvPicPr>
          <p:cNvPr id="19" name="Image 13" descr="preencoded.png"/>
          <p:cNvPicPr>
            <a:picLocks noChangeAspect="1"/>
          </p:cNvPicPr>
          <p:nvPr/>
        </p:nvPicPr>
        <p:blipFill>
          <a:blip r:embed="rId15"/>
          <a:stretch>
            <a:fillRect/>
          </a:stretch>
        </p:blipFill>
        <p:spPr>
          <a:xfrm>
            <a:off x="6740293" y="5333405"/>
            <a:ext cx="1309449" cy="68472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73800"/>
            <a:ext cx="7323058" cy="566976"/>
          </a:xfrm>
          <a:prstGeom prst="rect">
            <a:avLst/>
          </a:prstGeom>
          <a:noFill/>
          <a:ln/>
        </p:spPr>
        <p:txBody>
          <a:bodyPr wrap="none" lIns="0" tIns="0" rIns="0" bIns="0" rtlCol="0" anchor="t"/>
          <a:lstStyle/>
          <a:p>
            <a:pPr marL="0" indent="0" algn="l">
              <a:lnSpc>
                <a:spcPts val="4450"/>
              </a:lnSpc>
              <a:buNone/>
            </a:pPr>
            <a:r>
              <a:rPr lang="en-US" sz="3550" b="1" dirty="0">
                <a:solidFill>
                  <a:srgbClr val="03978F"/>
                </a:solidFill>
                <a:latin typeface="Roboto Slab Bold" pitchFamily="34" charset="0"/>
                <a:ea typeface="Roboto Slab Bold" pitchFamily="34" charset="-122"/>
                <a:cs typeface="Roboto Slab Bold" pitchFamily="34" charset="-120"/>
              </a:rPr>
              <a:t>Why Current Software Falls Short</a:t>
            </a:r>
            <a:endParaRPr lang="en-US" sz="3550" dirty="0"/>
          </a:p>
        </p:txBody>
      </p:sp>
      <p:sp>
        <p:nvSpPr>
          <p:cNvPr id="4" name="Text 1"/>
          <p:cNvSpPr/>
          <p:nvPr/>
        </p:nvSpPr>
        <p:spPr>
          <a:xfrm>
            <a:off x="793790" y="1712952"/>
            <a:ext cx="7556421" cy="580549"/>
          </a:xfrm>
          <a:prstGeom prst="rect">
            <a:avLst/>
          </a:prstGeom>
          <a:noFill/>
          <a:ln/>
        </p:spPr>
        <p:txBody>
          <a:bodyPr wrap="square" lIns="0" tIns="0" rIns="0" bIns="0" rtlCol="0" anchor="t"/>
          <a:lstStyle/>
          <a:p>
            <a:pPr marL="0" indent="0" algn="l">
              <a:lnSpc>
                <a:spcPts val="2250"/>
              </a:lnSpc>
              <a:buNone/>
            </a:pPr>
            <a:r>
              <a:rPr lang="en-US" sz="1400" dirty="0">
                <a:solidFill>
                  <a:srgbClr val="287170"/>
                </a:solidFill>
                <a:latin typeface="Roboto" pitchFamily="34" charset="0"/>
                <a:ea typeface="Roboto" pitchFamily="34" charset="-122"/>
                <a:cs typeface="Roboto" pitchFamily="34" charset="-120"/>
              </a:rPr>
              <a:t>While these solutions represent progress, they still have significant limitations that prevent true endodontic excellence.</a:t>
            </a:r>
            <a:endParaRPr lang="en-US" sz="1400" dirty="0"/>
          </a:p>
        </p:txBody>
      </p:sp>
      <p:sp>
        <p:nvSpPr>
          <p:cNvPr id="5" name="Shape 2"/>
          <p:cNvSpPr/>
          <p:nvPr/>
        </p:nvSpPr>
        <p:spPr>
          <a:xfrm>
            <a:off x="793790" y="2769751"/>
            <a:ext cx="3687485" cy="1921073"/>
          </a:xfrm>
          <a:prstGeom prst="roundRect">
            <a:avLst>
              <a:gd name="adj" fmla="val 5712"/>
            </a:avLst>
          </a:prstGeom>
          <a:solidFill>
            <a:srgbClr val="ECFBFE"/>
          </a:solidFill>
          <a:ln/>
        </p:spPr>
      </p:sp>
      <p:sp>
        <p:nvSpPr>
          <p:cNvPr id="6" name="Shape 3"/>
          <p:cNvSpPr/>
          <p:nvPr/>
        </p:nvSpPr>
        <p:spPr>
          <a:xfrm>
            <a:off x="793790" y="2746891"/>
            <a:ext cx="3687485" cy="91440"/>
          </a:xfrm>
          <a:prstGeom prst="roundRect">
            <a:avLst>
              <a:gd name="adj" fmla="val 83349"/>
            </a:avLst>
          </a:prstGeom>
          <a:solidFill>
            <a:srgbClr val="05988E"/>
          </a:solidFill>
          <a:ln/>
        </p:spPr>
      </p:sp>
      <p:sp>
        <p:nvSpPr>
          <p:cNvPr id="7" name="Shape 4"/>
          <p:cNvSpPr/>
          <p:nvPr/>
        </p:nvSpPr>
        <p:spPr>
          <a:xfrm>
            <a:off x="2365296" y="2497574"/>
            <a:ext cx="544354" cy="544354"/>
          </a:xfrm>
          <a:prstGeom prst="roundRect">
            <a:avLst>
              <a:gd name="adj" fmla="val 167979"/>
            </a:avLst>
          </a:prstGeom>
          <a:solidFill>
            <a:srgbClr val="05988E"/>
          </a:solidFill>
          <a:ln/>
        </p:spPr>
      </p:sp>
      <p:sp>
        <p:nvSpPr>
          <p:cNvPr id="8" name="Text 5"/>
          <p:cNvSpPr/>
          <p:nvPr/>
        </p:nvSpPr>
        <p:spPr>
          <a:xfrm>
            <a:off x="2528649" y="2633663"/>
            <a:ext cx="217646" cy="272177"/>
          </a:xfrm>
          <a:prstGeom prst="rect">
            <a:avLst/>
          </a:prstGeom>
          <a:noFill/>
          <a:ln/>
        </p:spPr>
        <p:txBody>
          <a:bodyPr wrap="none" lIns="0" tIns="0" rIns="0" bIns="0" rtlCol="0" anchor="t"/>
          <a:lstStyle/>
          <a:p>
            <a:pPr marL="0" indent="0" algn="l">
              <a:lnSpc>
                <a:spcPts val="2700"/>
              </a:lnSpc>
              <a:buNone/>
            </a:pPr>
            <a:r>
              <a:rPr lang="en-US" sz="1700" b="1" dirty="0">
                <a:solidFill>
                  <a:srgbClr val="FFFFFF"/>
                </a:solidFill>
                <a:latin typeface="Roboto Slab Bold" pitchFamily="34" charset="0"/>
                <a:ea typeface="Roboto Slab Bold" pitchFamily="34" charset="-122"/>
                <a:cs typeface="Roboto Slab Bold" pitchFamily="34" charset="-120"/>
              </a:rPr>
              <a:t>1</a:t>
            </a:r>
            <a:endParaRPr lang="en-US" sz="1700" dirty="0"/>
          </a:p>
        </p:txBody>
      </p:sp>
      <p:sp>
        <p:nvSpPr>
          <p:cNvPr id="9" name="Text 6"/>
          <p:cNvSpPr/>
          <p:nvPr/>
        </p:nvSpPr>
        <p:spPr>
          <a:xfrm>
            <a:off x="998101" y="3223379"/>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287170"/>
                </a:solidFill>
                <a:latin typeface="Roboto Slab Bold" pitchFamily="34" charset="0"/>
                <a:ea typeface="Roboto Slab Bold" pitchFamily="34" charset="-122"/>
                <a:cs typeface="Roboto Slab Bold" pitchFamily="34" charset="-120"/>
              </a:rPr>
              <a:t>Fragmented AI</a:t>
            </a:r>
            <a:endParaRPr lang="en-US" sz="1750" dirty="0"/>
          </a:p>
        </p:txBody>
      </p:sp>
      <p:sp>
        <p:nvSpPr>
          <p:cNvPr id="10" name="Text 7"/>
          <p:cNvSpPr/>
          <p:nvPr/>
        </p:nvSpPr>
        <p:spPr>
          <a:xfrm>
            <a:off x="998101" y="3615690"/>
            <a:ext cx="3278862" cy="870823"/>
          </a:xfrm>
          <a:prstGeom prst="rect">
            <a:avLst/>
          </a:prstGeom>
          <a:noFill/>
          <a:ln/>
        </p:spPr>
        <p:txBody>
          <a:bodyPr wrap="square" lIns="0" tIns="0" rIns="0" bIns="0" rtlCol="0" anchor="t"/>
          <a:lstStyle/>
          <a:p>
            <a:pPr marL="0" indent="0" algn="l">
              <a:lnSpc>
                <a:spcPts val="2250"/>
              </a:lnSpc>
              <a:buNone/>
            </a:pPr>
            <a:r>
              <a:rPr lang="en-US" sz="1400" dirty="0">
                <a:solidFill>
                  <a:srgbClr val="287170"/>
                </a:solidFill>
                <a:latin typeface="Roboto" pitchFamily="34" charset="0"/>
                <a:ea typeface="Roboto" pitchFamily="34" charset="-122"/>
                <a:cs typeface="Roboto" pitchFamily="34" charset="-120"/>
              </a:rPr>
              <a:t>Powerful AI tools exist, but they work alone. They don't connect to your main work and can't talk to each other.</a:t>
            </a:r>
            <a:endParaRPr lang="en-US" sz="1400" dirty="0"/>
          </a:p>
        </p:txBody>
      </p:sp>
      <p:sp>
        <p:nvSpPr>
          <p:cNvPr id="11" name="Shape 8"/>
          <p:cNvSpPr/>
          <p:nvPr/>
        </p:nvSpPr>
        <p:spPr>
          <a:xfrm>
            <a:off x="4662726" y="2769751"/>
            <a:ext cx="3687485" cy="1921073"/>
          </a:xfrm>
          <a:prstGeom prst="roundRect">
            <a:avLst>
              <a:gd name="adj" fmla="val 5712"/>
            </a:avLst>
          </a:prstGeom>
          <a:solidFill>
            <a:srgbClr val="ECFBFE"/>
          </a:solidFill>
          <a:ln/>
        </p:spPr>
      </p:sp>
      <p:sp>
        <p:nvSpPr>
          <p:cNvPr id="12" name="Shape 9"/>
          <p:cNvSpPr/>
          <p:nvPr/>
        </p:nvSpPr>
        <p:spPr>
          <a:xfrm>
            <a:off x="4662726" y="2746891"/>
            <a:ext cx="3687485" cy="91440"/>
          </a:xfrm>
          <a:prstGeom prst="roundRect">
            <a:avLst>
              <a:gd name="adj" fmla="val 83349"/>
            </a:avLst>
          </a:prstGeom>
          <a:solidFill>
            <a:srgbClr val="05988E"/>
          </a:solidFill>
          <a:ln/>
        </p:spPr>
      </p:sp>
      <p:sp>
        <p:nvSpPr>
          <p:cNvPr id="13" name="Shape 10"/>
          <p:cNvSpPr/>
          <p:nvPr/>
        </p:nvSpPr>
        <p:spPr>
          <a:xfrm>
            <a:off x="6234232" y="2497574"/>
            <a:ext cx="544354" cy="544354"/>
          </a:xfrm>
          <a:prstGeom prst="roundRect">
            <a:avLst>
              <a:gd name="adj" fmla="val 167979"/>
            </a:avLst>
          </a:prstGeom>
          <a:solidFill>
            <a:srgbClr val="05988E"/>
          </a:solidFill>
          <a:ln/>
        </p:spPr>
      </p:sp>
      <p:sp>
        <p:nvSpPr>
          <p:cNvPr id="14" name="Text 11"/>
          <p:cNvSpPr/>
          <p:nvPr/>
        </p:nvSpPr>
        <p:spPr>
          <a:xfrm>
            <a:off x="6397585" y="2633663"/>
            <a:ext cx="217646" cy="272177"/>
          </a:xfrm>
          <a:prstGeom prst="rect">
            <a:avLst/>
          </a:prstGeom>
          <a:noFill/>
          <a:ln/>
        </p:spPr>
        <p:txBody>
          <a:bodyPr wrap="none" lIns="0" tIns="0" rIns="0" bIns="0" rtlCol="0" anchor="t"/>
          <a:lstStyle/>
          <a:p>
            <a:pPr marL="0" indent="0" algn="l">
              <a:lnSpc>
                <a:spcPts val="2700"/>
              </a:lnSpc>
              <a:buNone/>
            </a:pPr>
            <a:r>
              <a:rPr lang="en-US" sz="1700" b="1" dirty="0">
                <a:solidFill>
                  <a:srgbClr val="FFFFFF"/>
                </a:solidFill>
                <a:latin typeface="Roboto Slab Bold" pitchFamily="34" charset="0"/>
                <a:ea typeface="Roboto Slab Bold" pitchFamily="34" charset="-122"/>
                <a:cs typeface="Roboto Slab Bold" pitchFamily="34" charset="-120"/>
              </a:rPr>
              <a:t>2</a:t>
            </a:r>
            <a:endParaRPr lang="en-US" sz="1700" dirty="0"/>
          </a:p>
        </p:txBody>
      </p:sp>
      <p:sp>
        <p:nvSpPr>
          <p:cNvPr id="15" name="Text 12"/>
          <p:cNvSpPr/>
          <p:nvPr/>
        </p:nvSpPr>
        <p:spPr>
          <a:xfrm>
            <a:off x="4867037" y="3223379"/>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287170"/>
                </a:solidFill>
                <a:latin typeface="Roboto Slab Bold" pitchFamily="34" charset="0"/>
                <a:ea typeface="Roboto Slab Bold" pitchFamily="34" charset="-122"/>
                <a:cs typeface="Roboto Slab Bold" pitchFamily="34" charset="-120"/>
              </a:rPr>
              <a:t>Siloed Workflows</a:t>
            </a:r>
            <a:endParaRPr lang="en-US" sz="1750" dirty="0"/>
          </a:p>
        </p:txBody>
      </p:sp>
      <p:sp>
        <p:nvSpPr>
          <p:cNvPr id="16" name="Text 13"/>
          <p:cNvSpPr/>
          <p:nvPr/>
        </p:nvSpPr>
        <p:spPr>
          <a:xfrm>
            <a:off x="4867037" y="3615690"/>
            <a:ext cx="3278862" cy="870823"/>
          </a:xfrm>
          <a:prstGeom prst="rect">
            <a:avLst/>
          </a:prstGeom>
          <a:noFill/>
          <a:ln/>
        </p:spPr>
        <p:txBody>
          <a:bodyPr wrap="square" lIns="0" tIns="0" rIns="0" bIns="0" rtlCol="0" anchor="t"/>
          <a:lstStyle/>
          <a:p>
            <a:pPr marL="0" indent="0" algn="l">
              <a:lnSpc>
                <a:spcPts val="2250"/>
              </a:lnSpc>
              <a:buNone/>
            </a:pPr>
            <a:r>
              <a:rPr lang="en-US" sz="1400" dirty="0">
                <a:solidFill>
                  <a:srgbClr val="287170"/>
                </a:solidFill>
                <a:latin typeface="Roboto" pitchFamily="34" charset="0"/>
                <a:ea typeface="Roboto" pitchFamily="34" charset="-122"/>
                <a:cs typeface="Roboto" pitchFamily="34" charset="-120"/>
              </a:rPr>
              <a:t>There are big gaps between patient care and office tasks. This causes problems and can lead to mistakes or delays.</a:t>
            </a:r>
            <a:endParaRPr lang="en-US" sz="1400" dirty="0"/>
          </a:p>
        </p:txBody>
      </p:sp>
      <p:sp>
        <p:nvSpPr>
          <p:cNvPr id="17" name="Shape 14"/>
          <p:cNvSpPr/>
          <p:nvPr/>
        </p:nvSpPr>
        <p:spPr>
          <a:xfrm>
            <a:off x="793790" y="5144453"/>
            <a:ext cx="3687485" cy="2211348"/>
          </a:xfrm>
          <a:prstGeom prst="roundRect">
            <a:avLst>
              <a:gd name="adj" fmla="val 4962"/>
            </a:avLst>
          </a:prstGeom>
          <a:solidFill>
            <a:srgbClr val="ECFBFE"/>
          </a:solidFill>
          <a:ln/>
        </p:spPr>
      </p:sp>
      <p:sp>
        <p:nvSpPr>
          <p:cNvPr id="18" name="Shape 15"/>
          <p:cNvSpPr/>
          <p:nvPr/>
        </p:nvSpPr>
        <p:spPr>
          <a:xfrm>
            <a:off x="793790" y="5121593"/>
            <a:ext cx="3687485" cy="91440"/>
          </a:xfrm>
          <a:prstGeom prst="roundRect">
            <a:avLst>
              <a:gd name="adj" fmla="val 83349"/>
            </a:avLst>
          </a:prstGeom>
          <a:solidFill>
            <a:srgbClr val="05988E"/>
          </a:solidFill>
          <a:ln/>
        </p:spPr>
      </p:sp>
      <p:sp>
        <p:nvSpPr>
          <p:cNvPr id="19" name="Shape 16"/>
          <p:cNvSpPr/>
          <p:nvPr/>
        </p:nvSpPr>
        <p:spPr>
          <a:xfrm>
            <a:off x="2365296" y="4872276"/>
            <a:ext cx="544354" cy="544354"/>
          </a:xfrm>
          <a:prstGeom prst="roundRect">
            <a:avLst>
              <a:gd name="adj" fmla="val 167979"/>
            </a:avLst>
          </a:prstGeom>
          <a:solidFill>
            <a:srgbClr val="05988E"/>
          </a:solidFill>
          <a:ln/>
        </p:spPr>
      </p:sp>
      <p:sp>
        <p:nvSpPr>
          <p:cNvPr id="20" name="Text 17"/>
          <p:cNvSpPr/>
          <p:nvPr/>
        </p:nvSpPr>
        <p:spPr>
          <a:xfrm>
            <a:off x="2528649" y="5008364"/>
            <a:ext cx="217646" cy="272177"/>
          </a:xfrm>
          <a:prstGeom prst="rect">
            <a:avLst/>
          </a:prstGeom>
          <a:noFill/>
          <a:ln/>
        </p:spPr>
        <p:txBody>
          <a:bodyPr wrap="none" lIns="0" tIns="0" rIns="0" bIns="0" rtlCol="0" anchor="t"/>
          <a:lstStyle/>
          <a:p>
            <a:pPr marL="0" indent="0" algn="l">
              <a:lnSpc>
                <a:spcPts val="2700"/>
              </a:lnSpc>
              <a:buNone/>
            </a:pPr>
            <a:r>
              <a:rPr lang="en-US" sz="1700" b="1" dirty="0">
                <a:solidFill>
                  <a:srgbClr val="FFFFFF"/>
                </a:solidFill>
                <a:latin typeface="Roboto Slab Bold" pitchFamily="34" charset="0"/>
                <a:ea typeface="Roboto Slab Bold" pitchFamily="34" charset="-122"/>
                <a:cs typeface="Roboto Slab Bold" pitchFamily="34" charset="-120"/>
              </a:rPr>
              <a:t>3</a:t>
            </a:r>
            <a:endParaRPr lang="en-US" sz="1700" dirty="0"/>
          </a:p>
        </p:txBody>
      </p:sp>
      <p:sp>
        <p:nvSpPr>
          <p:cNvPr id="21" name="Text 18"/>
          <p:cNvSpPr/>
          <p:nvPr/>
        </p:nvSpPr>
        <p:spPr>
          <a:xfrm>
            <a:off x="998101" y="5598081"/>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287170"/>
                </a:solidFill>
                <a:latin typeface="Roboto Slab Bold" pitchFamily="34" charset="0"/>
                <a:ea typeface="Roboto Slab Bold" pitchFamily="34" charset="-122"/>
                <a:cs typeface="Roboto Slab Bold" pitchFamily="34" charset="-120"/>
              </a:rPr>
              <a:t>Static "Evidence"</a:t>
            </a:r>
            <a:endParaRPr lang="en-US" sz="1750" dirty="0"/>
          </a:p>
        </p:txBody>
      </p:sp>
      <p:sp>
        <p:nvSpPr>
          <p:cNvPr id="22" name="Text 19"/>
          <p:cNvSpPr/>
          <p:nvPr/>
        </p:nvSpPr>
        <p:spPr>
          <a:xfrm>
            <a:off x="998101" y="5990392"/>
            <a:ext cx="3278862" cy="1161098"/>
          </a:xfrm>
          <a:prstGeom prst="rect">
            <a:avLst/>
          </a:prstGeom>
          <a:noFill/>
          <a:ln/>
        </p:spPr>
        <p:txBody>
          <a:bodyPr wrap="square" lIns="0" tIns="0" rIns="0" bIns="0" rtlCol="0" anchor="t"/>
          <a:lstStyle/>
          <a:p>
            <a:pPr marL="0" indent="0" algn="l">
              <a:lnSpc>
                <a:spcPts val="2250"/>
              </a:lnSpc>
              <a:buNone/>
            </a:pPr>
            <a:r>
              <a:rPr lang="en-US" sz="1400" dirty="0">
                <a:solidFill>
                  <a:srgbClr val="287170"/>
                </a:solidFill>
                <a:latin typeface="Roboto" pitchFamily="34" charset="0"/>
                <a:ea typeface="Roboto" pitchFamily="34" charset="-122"/>
                <a:cs typeface="Roboto" pitchFamily="34" charset="-120"/>
              </a:rPr>
              <a:t>These systems use old rules that don't change. They can't learn from new research or adapt to better ways of doing things.</a:t>
            </a:r>
            <a:endParaRPr lang="en-US" sz="1400" dirty="0"/>
          </a:p>
        </p:txBody>
      </p:sp>
      <p:sp>
        <p:nvSpPr>
          <p:cNvPr id="23" name="Shape 20"/>
          <p:cNvSpPr/>
          <p:nvPr/>
        </p:nvSpPr>
        <p:spPr>
          <a:xfrm>
            <a:off x="4662726" y="5144453"/>
            <a:ext cx="3687485" cy="2211348"/>
          </a:xfrm>
          <a:prstGeom prst="roundRect">
            <a:avLst>
              <a:gd name="adj" fmla="val 4962"/>
            </a:avLst>
          </a:prstGeom>
          <a:solidFill>
            <a:srgbClr val="ECFBFE"/>
          </a:solidFill>
          <a:ln/>
        </p:spPr>
      </p:sp>
      <p:sp>
        <p:nvSpPr>
          <p:cNvPr id="24" name="Shape 21"/>
          <p:cNvSpPr/>
          <p:nvPr/>
        </p:nvSpPr>
        <p:spPr>
          <a:xfrm>
            <a:off x="4662726" y="5121593"/>
            <a:ext cx="3687485" cy="91440"/>
          </a:xfrm>
          <a:prstGeom prst="roundRect">
            <a:avLst>
              <a:gd name="adj" fmla="val 83349"/>
            </a:avLst>
          </a:prstGeom>
          <a:solidFill>
            <a:srgbClr val="05988E"/>
          </a:solidFill>
          <a:ln/>
        </p:spPr>
      </p:sp>
      <p:sp>
        <p:nvSpPr>
          <p:cNvPr id="25" name="Shape 22"/>
          <p:cNvSpPr/>
          <p:nvPr/>
        </p:nvSpPr>
        <p:spPr>
          <a:xfrm>
            <a:off x="6234232" y="4872276"/>
            <a:ext cx="544354" cy="544354"/>
          </a:xfrm>
          <a:prstGeom prst="roundRect">
            <a:avLst>
              <a:gd name="adj" fmla="val 167979"/>
            </a:avLst>
          </a:prstGeom>
          <a:solidFill>
            <a:srgbClr val="05988E"/>
          </a:solidFill>
          <a:ln/>
        </p:spPr>
      </p:sp>
      <p:sp>
        <p:nvSpPr>
          <p:cNvPr id="26" name="Text 23"/>
          <p:cNvSpPr/>
          <p:nvPr/>
        </p:nvSpPr>
        <p:spPr>
          <a:xfrm>
            <a:off x="6397585" y="5008364"/>
            <a:ext cx="217646" cy="272177"/>
          </a:xfrm>
          <a:prstGeom prst="rect">
            <a:avLst/>
          </a:prstGeom>
          <a:noFill/>
          <a:ln/>
        </p:spPr>
        <p:txBody>
          <a:bodyPr wrap="none" lIns="0" tIns="0" rIns="0" bIns="0" rtlCol="0" anchor="t"/>
          <a:lstStyle/>
          <a:p>
            <a:pPr marL="0" indent="0" algn="l">
              <a:lnSpc>
                <a:spcPts val="2700"/>
              </a:lnSpc>
              <a:buNone/>
            </a:pPr>
            <a:r>
              <a:rPr lang="en-US" sz="1700" b="1" dirty="0">
                <a:solidFill>
                  <a:srgbClr val="FFFFFF"/>
                </a:solidFill>
                <a:latin typeface="Roboto Slab Bold" pitchFamily="34" charset="0"/>
                <a:ea typeface="Roboto Slab Bold" pitchFamily="34" charset="-122"/>
                <a:cs typeface="Roboto Slab Bold" pitchFamily="34" charset="-120"/>
              </a:rPr>
              <a:t>4</a:t>
            </a:r>
            <a:endParaRPr lang="en-US" sz="1700" dirty="0"/>
          </a:p>
        </p:txBody>
      </p:sp>
      <p:sp>
        <p:nvSpPr>
          <p:cNvPr id="27" name="Text 24"/>
          <p:cNvSpPr/>
          <p:nvPr/>
        </p:nvSpPr>
        <p:spPr>
          <a:xfrm>
            <a:off x="4867037" y="5598081"/>
            <a:ext cx="2274451" cy="283488"/>
          </a:xfrm>
          <a:prstGeom prst="rect">
            <a:avLst/>
          </a:prstGeom>
          <a:noFill/>
          <a:ln/>
        </p:spPr>
        <p:txBody>
          <a:bodyPr wrap="none" lIns="0" tIns="0" rIns="0" bIns="0" rtlCol="0" anchor="t"/>
          <a:lstStyle/>
          <a:p>
            <a:pPr marL="0" indent="0" algn="l">
              <a:lnSpc>
                <a:spcPts val="2200"/>
              </a:lnSpc>
              <a:buNone/>
            </a:pPr>
            <a:r>
              <a:rPr lang="en-US" sz="1750" b="1" dirty="0">
                <a:solidFill>
                  <a:srgbClr val="287170"/>
                </a:solidFill>
                <a:latin typeface="Roboto Slab Bold" pitchFamily="34" charset="0"/>
                <a:ea typeface="Roboto Slab Bold" pitchFamily="34" charset="-122"/>
                <a:cs typeface="Roboto Slab Bold" pitchFamily="34" charset="-120"/>
              </a:rPr>
              <a:t>No Internal Research</a:t>
            </a:r>
            <a:endParaRPr lang="en-US" sz="1750" dirty="0"/>
          </a:p>
        </p:txBody>
      </p:sp>
      <p:sp>
        <p:nvSpPr>
          <p:cNvPr id="28" name="Text 25"/>
          <p:cNvSpPr/>
          <p:nvPr/>
        </p:nvSpPr>
        <p:spPr>
          <a:xfrm>
            <a:off x="4867037" y="5990392"/>
            <a:ext cx="3278862" cy="870823"/>
          </a:xfrm>
          <a:prstGeom prst="rect">
            <a:avLst/>
          </a:prstGeom>
          <a:noFill/>
          <a:ln/>
        </p:spPr>
        <p:txBody>
          <a:bodyPr wrap="square" lIns="0" tIns="0" rIns="0" bIns="0" rtlCol="0" anchor="t"/>
          <a:lstStyle/>
          <a:p>
            <a:pPr marL="0" indent="0" algn="l">
              <a:lnSpc>
                <a:spcPts val="2250"/>
              </a:lnSpc>
              <a:buNone/>
            </a:pPr>
            <a:r>
              <a:rPr lang="en-US" sz="1400" dirty="0">
                <a:solidFill>
                  <a:srgbClr val="287170"/>
                </a:solidFill>
                <a:latin typeface="Roboto" pitchFamily="34" charset="0"/>
                <a:ea typeface="Roboto" pitchFamily="34" charset="-122"/>
                <a:cs typeface="Roboto" pitchFamily="34" charset="-120"/>
              </a:rPr>
              <a:t>The software can't look at your own practice's past results. This means you can't improve your methods over time.</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91396"/>
            <a:ext cx="5429964" cy="637937"/>
          </a:xfrm>
          <a:prstGeom prst="rect">
            <a:avLst/>
          </a:prstGeom>
          <a:noFill/>
          <a:ln/>
        </p:spPr>
        <p:txBody>
          <a:bodyPr wrap="none" lIns="0" tIns="0" rIns="0" bIns="0" rtlCol="0" anchor="t"/>
          <a:lstStyle/>
          <a:p>
            <a:pPr marL="0" indent="0" algn="l">
              <a:lnSpc>
                <a:spcPts val="5000"/>
              </a:lnSpc>
              <a:buNone/>
            </a:pPr>
            <a:r>
              <a:rPr lang="en-US" sz="4000" b="1" dirty="0">
                <a:solidFill>
                  <a:srgbClr val="03978F"/>
                </a:solidFill>
                <a:latin typeface="Roboto Slab Bold" pitchFamily="34" charset="0"/>
                <a:ea typeface="Roboto Slab Bold" pitchFamily="34" charset="-122"/>
                <a:cs typeface="Roboto Slab Bold" pitchFamily="34" charset="-120"/>
              </a:rPr>
              <a:t>Introducing EndoFlow</a:t>
            </a:r>
            <a:endParaRPr lang="en-US" sz="4000" dirty="0"/>
          </a:p>
        </p:txBody>
      </p:sp>
      <p:sp>
        <p:nvSpPr>
          <p:cNvPr id="4" name="Text 1"/>
          <p:cNvSpPr/>
          <p:nvPr/>
        </p:nvSpPr>
        <p:spPr>
          <a:xfrm>
            <a:off x="6280190" y="1635443"/>
            <a:ext cx="7556421" cy="1960245"/>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EndoFlow is the AI-powered central nervous system for dental practices. Today, I'll show you how it represents more than just another software – it's a paradigm shift in endodontics. We're moving beyond simple practice management to cultivate a truly intelligent, learning, and adaptive clinical environment, meticulously designed to resolve critical systemic inefficiencies that currently hinder clinical excellence and operational viability.</a:t>
            </a:r>
            <a:endParaRPr lang="en-US" sz="1600" dirty="0"/>
          </a:p>
        </p:txBody>
      </p:sp>
      <p:pic>
        <p:nvPicPr>
          <p:cNvPr id="5" name="Image 1" descr="preencoded.png"/>
          <p:cNvPicPr>
            <a:picLocks noChangeAspect="1"/>
          </p:cNvPicPr>
          <p:nvPr/>
        </p:nvPicPr>
        <p:blipFill>
          <a:blip r:embed="rId4"/>
          <a:stretch>
            <a:fillRect/>
          </a:stretch>
        </p:blipFill>
        <p:spPr>
          <a:xfrm>
            <a:off x="6482953" y="3825240"/>
            <a:ext cx="7150775" cy="3712845"/>
          </a:xfrm>
          <a:prstGeom prst="rect">
            <a:avLst/>
          </a:prstGeom>
        </p:spPr>
      </p:pic>
      <p:sp>
        <p:nvSpPr>
          <p:cNvPr id="6" name="Text 2"/>
          <p:cNvSpPr/>
          <p:nvPr/>
        </p:nvSpPr>
        <p:spPr>
          <a:xfrm>
            <a:off x="9609999" y="5478821"/>
            <a:ext cx="882398" cy="198540"/>
          </a:xfrm>
          <a:prstGeom prst="rect">
            <a:avLst/>
          </a:prstGeom>
          <a:noFill/>
          <a:ln/>
        </p:spPr>
        <p:txBody>
          <a:bodyPr wrap="none" lIns="0" tIns="0" rIns="0" bIns="0" rtlCol="0" anchor="t"/>
          <a:lstStyle/>
          <a:p>
            <a:pPr marL="0" indent="0" algn="ctr">
              <a:lnSpc>
                <a:spcPts val="1650"/>
              </a:lnSpc>
              <a:buNone/>
            </a:pPr>
            <a:r>
              <a:rPr lang="en-US" sz="1350" b="1" dirty="0" err="1">
                <a:solidFill>
                  <a:srgbClr val="FFFFFF"/>
                </a:solidFill>
                <a:latin typeface="Roboto Slab Bold" pitchFamily="34" charset="0"/>
                <a:ea typeface="Roboto Slab Bold" pitchFamily="34" charset="-122"/>
                <a:cs typeface="Roboto Slab Bold" pitchFamily="34" charset="-120"/>
              </a:rPr>
              <a:t>EndoFlow</a:t>
            </a:r>
            <a:endParaRPr lang="en-US" sz="1350" b="1" dirty="0">
              <a:solidFill>
                <a:srgbClr val="FFFFFF"/>
              </a:solidFill>
              <a:latin typeface="Roboto Slab Bold" pitchFamily="34" charset="0"/>
              <a:ea typeface="Roboto Slab Bold" pitchFamily="34" charset="-122"/>
              <a:cs typeface="Roboto Slab Bold" pitchFamily="34" charset="-120"/>
            </a:endParaRPr>
          </a:p>
          <a:p>
            <a:pPr marL="0" indent="0" algn="ctr">
              <a:lnSpc>
                <a:spcPts val="1650"/>
              </a:lnSpc>
              <a:buNone/>
            </a:pPr>
            <a:r>
              <a:rPr lang="en-US" sz="1350" b="1" dirty="0">
                <a:solidFill>
                  <a:srgbClr val="FFFFFF"/>
                </a:solidFill>
                <a:latin typeface="Roboto Slab Bold" pitchFamily="34" charset="0"/>
                <a:ea typeface="Roboto Slab Bold" pitchFamily="34" charset="-122"/>
                <a:cs typeface="Roboto Slab Bold" pitchFamily="34" charset="-120"/>
              </a:rPr>
              <a:t>AI Core</a:t>
            </a:r>
            <a:endParaRPr lang="en-US" sz="1350" dirty="0"/>
          </a:p>
        </p:txBody>
      </p:sp>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04166" y="4809854"/>
            <a:ext cx="179568" cy="179568"/>
          </a:xfrm>
          <a:prstGeom prst="rect">
            <a:avLst/>
          </a:prstGeom>
        </p:spPr>
      </p:pic>
      <p:sp>
        <p:nvSpPr>
          <p:cNvPr id="8" name="Text 3"/>
          <p:cNvSpPr/>
          <p:nvPr/>
        </p:nvSpPr>
        <p:spPr>
          <a:xfrm>
            <a:off x="6652205" y="4584402"/>
            <a:ext cx="1231166" cy="485318"/>
          </a:xfrm>
          <a:prstGeom prst="rect">
            <a:avLst/>
          </a:prstGeom>
          <a:noFill/>
          <a:ln/>
        </p:spPr>
        <p:txBody>
          <a:bodyPr wrap="square" lIns="0" tIns="0" rIns="0" bIns="0" rtlCol="0" anchor="t"/>
          <a:lstStyle/>
          <a:p>
            <a:pPr marL="0" indent="0" algn="l">
              <a:lnSpc>
                <a:spcPts val="2000"/>
              </a:lnSpc>
              <a:buNone/>
            </a:pPr>
            <a:r>
              <a:rPr lang="en-US" sz="1600" b="1" dirty="0">
                <a:solidFill>
                  <a:srgbClr val="03978F"/>
                </a:solidFill>
                <a:latin typeface="Roboto Slab Bold" pitchFamily="34" charset="0"/>
                <a:ea typeface="Roboto Slab Bold" pitchFamily="34" charset="-122"/>
                <a:cs typeface="Roboto Slab Bold" pitchFamily="34" charset="-120"/>
              </a:rPr>
              <a:t>Dentist Dashboard</a:t>
            </a:r>
            <a:endParaRPr lang="en-US" sz="1600" dirty="0"/>
          </a:p>
        </p:txBody>
      </p:sp>
      <p:sp>
        <p:nvSpPr>
          <p:cNvPr id="9" name="Text 4"/>
          <p:cNvSpPr/>
          <p:nvPr/>
        </p:nvSpPr>
        <p:spPr>
          <a:xfrm>
            <a:off x="6652205" y="5131488"/>
            <a:ext cx="1371245" cy="779157"/>
          </a:xfrm>
          <a:prstGeom prst="rect">
            <a:avLst/>
          </a:prstGeom>
          <a:noFill/>
          <a:ln/>
        </p:spPr>
        <p:txBody>
          <a:bodyPr wrap="square" lIns="0" tIns="0" rIns="0" bIns="0" rtlCol="0" anchor="t"/>
          <a:lstStyle/>
          <a:p>
            <a:pPr marL="0" indent="0" algn="l">
              <a:lnSpc>
                <a:spcPts val="1650"/>
              </a:lnSpc>
              <a:buNone/>
            </a:pPr>
            <a:r>
              <a:rPr lang="en-US" sz="1350" dirty="0">
                <a:solidFill>
                  <a:srgbClr val="03978F"/>
                </a:solidFill>
                <a:latin typeface="Roboto" pitchFamily="34" charset="0"/>
                <a:ea typeface="Roboto" pitchFamily="34" charset="-122"/>
                <a:cs typeface="Roboto" pitchFamily="34" charset="-120"/>
              </a:rPr>
              <a:t>AI powered voice controlled 24/7 co-pilot, assistant and scribe.</a:t>
            </a:r>
            <a:endParaRPr lang="en-US" sz="1350" dirty="0"/>
          </a:p>
        </p:txBody>
      </p:sp>
      <p:sp>
        <p:nvSpPr>
          <p:cNvPr id="10" name="Text 5"/>
          <p:cNvSpPr/>
          <p:nvPr/>
        </p:nvSpPr>
        <p:spPr>
          <a:xfrm>
            <a:off x="11918351" y="5438562"/>
            <a:ext cx="1545961" cy="476495"/>
          </a:xfrm>
          <a:prstGeom prst="rect">
            <a:avLst/>
          </a:prstGeom>
          <a:noFill/>
          <a:ln/>
        </p:spPr>
        <p:txBody>
          <a:bodyPr wrap="square" lIns="0" tIns="0" rIns="0" bIns="0" rtlCol="0" anchor="t"/>
          <a:lstStyle/>
          <a:p>
            <a:pPr marL="0" indent="0" algn="r">
              <a:lnSpc>
                <a:spcPts val="2000"/>
              </a:lnSpc>
              <a:buNone/>
            </a:pPr>
            <a:r>
              <a:rPr lang="en-US" sz="1600" b="1" dirty="0">
                <a:solidFill>
                  <a:srgbClr val="287170"/>
                </a:solidFill>
                <a:latin typeface="Roboto Slab Bold" pitchFamily="34" charset="0"/>
                <a:ea typeface="Roboto Slab Bold" pitchFamily="34" charset="-122"/>
                <a:cs typeface="Roboto Slab Bold" pitchFamily="34" charset="-120"/>
              </a:rPr>
              <a:t>Assistant Dashboard</a:t>
            </a:r>
            <a:endParaRPr lang="en-US" sz="1600" dirty="0"/>
          </a:p>
        </p:txBody>
      </p:sp>
      <p:sp>
        <p:nvSpPr>
          <p:cNvPr id="11" name="Text 6"/>
          <p:cNvSpPr/>
          <p:nvPr/>
        </p:nvSpPr>
        <p:spPr>
          <a:xfrm>
            <a:off x="11918351" y="5971530"/>
            <a:ext cx="1545961" cy="476494"/>
          </a:xfrm>
          <a:prstGeom prst="rect">
            <a:avLst/>
          </a:prstGeom>
          <a:noFill/>
          <a:ln/>
        </p:spPr>
        <p:txBody>
          <a:bodyPr wrap="square" lIns="0" tIns="0" rIns="0" bIns="0" rtlCol="0" anchor="t"/>
          <a:lstStyle/>
          <a:p>
            <a:pPr marL="0" indent="0" algn="r">
              <a:lnSpc>
                <a:spcPts val="1350"/>
              </a:lnSpc>
              <a:buNone/>
            </a:pPr>
            <a:r>
              <a:rPr lang="en-US" sz="1050" dirty="0">
                <a:solidFill>
                  <a:srgbClr val="287170"/>
                </a:solidFill>
                <a:latin typeface="Roboto" pitchFamily="34" charset="0"/>
                <a:ea typeface="Roboto" pitchFamily="34" charset="-122"/>
                <a:cs typeface="Roboto" pitchFamily="34" charset="-120"/>
              </a:rPr>
              <a:t>Patient management, Xray upload, appointment scheduling and Task board</a:t>
            </a:r>
            <a:endParaRPr lang="en-US" sz="1050" dirty="0"/>
          </a:p>
        </p:txBody>
      </p:sp>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73676" y="5219286"/>
            <a:ext cx="179569" cy="179568"/>
          </a:xfrm>
          <a:prstGeom prst="rect">
            <a:avLst/>
          </a:prstGeom>
        </p:spPr>
      </p:pic>
      <p:pic>
        <p:nvPicPr>
          <p:cNvPr id="13"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93562" y="6334637"/>
            <a:ext cx="179568" cy="179568"/>
          </a:xfrm>
          <a:prstGeom prst="rect">
            <a:avLst/>
          </a:prstGeom>
        </p:spPr>
      </p:pic>
      <p:sp>
        <p:nvSpPr>
          <p:cNvPr id="14" name="Text 7"/>
          <p:cNvSpPr/>
          <p:nvPr/>
        </p:nvSpPr>
        <p:spPr>
          <a:xfrm>
            <a:off x="6652205" y="6236249"/>
            <a:ext cx="1371244" cy="485318"/>
          </a:xfrm>
          <a:prstGeom prst="rect">
            <a:avLst/>
          </a:prstGeom>
          <a:noFill/>
          <a:ln/>
        </p:spPr>
        <p:txBody>
          <a:bodyPr wrap="square" lIns="0" tIns="0" rIns="0" bIns="0" rtlCol="0" anchor="t"/>
          <a:lstStyle/>
          <a:p>
            <a:pPr marL="0" indent="0" algn="l">
              <a:lnSpc>
                <a:spcPts val="2000"/>
              </a:lnSpc>
              <a:buNone/>
            </a:pPr>
            <a:r>
              <a:rPr lang="en-US" sz="1600" b="1" dirty="0">
                <a:solidFill>
                  <a:srgbClr val="03978F"/>
                </a:solidFill>
                <a:latin typeface="Roboto Slab Bold" pitchFamily="34" charset="0"/>
                <a:ea typeface="Roboto Slab Bold" pitchFamily="34" charset="-122"/>
                <a:cs typeface="Roboto Slab Bold" pitchFamily="34" charset="-120"/>
              </a:rPr>
              <a:t>Patient Dashboard</a:t>
            </a:r>
            <a:endParaRPr lang="en-US" sz="1600" dirty="0"/>
          </a:p>
        </p:txBody>
      </p:sp>
      <p:sp>
        <p:nvSpPr>
          <p:cNvPr id="15" name="Text 8"/>
          <p:cNvSpPr/>
          <p:nvPr/>
        </p:nvSpPr>
        <p:spPr>
          <a:xfrm>
            <a:off x="6652205" y="6776276"/>
            <a:ext cx="1460588" cy="307074"/>
          </a:xfrm>
          <a:prstGeom prst="rect">
            <a:avLst/>
          </a:prstGeom>
          <a:noFill/>
          <a:ln/>
        </p:spPr>
        <p:txBody>
          <a:bodyPr wrap="square" lIns="0" tIns="0" rIns="0" bIns="0" rtlCol="0" anchor="t"/>
          <a:lstStyle/>
          <a:p>
            <a:pPr marL="0" indent="0" algn="l">
              <a:lnSpc>
                <a:spcPts val="1350"/>
              </a:lnSpc>
              <a:buNone/>
            </a:pPr>
            <a:r>
              <a:rPr lang="en-US" sz="1050" dirty="0">
                <a:solidFill>
                  <a:srgbClr val="03978F"/>
                </a:solidFill>
                <a:latin typeface="Roboto" pitchFamily="34" charset="0"/>
                <a:ea typeface="Roboto" pitchFamily="34" charset="-122"/>
                <a:cs typeface="Roboto" pitchFamily="34" charset="-120"/>
              </a:rPr>
              <a:t>Records, communication, and Personilized care</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68101"/>
            <a:ext cx="7556421" cy="1133951"/>
          </a:xfrm>
          <a:prstGeom prst="rect">
            <a:avLst/>
          </a:prstGeom>
          <a:noFill/>
          <a:ln/>
        </p:spPr>
        <p:txBody>
          <a:bodyPr wrap="square" lIns="0" tIns="0" rIns="0" bIns="0" rtlCol="0" anchor="t"/>
          <a:lstStyle/>
          <a:p>
            <a:pPr marL="0" indent="0" algn="l">
              <a:lnSpc>
                <a:spcPts val="4450"/>
              </a:lnSpc>
              <a:buNone/>
            </a:pPr>
            <a:r>
              <a:rPr lang="en-US" sz="3550" b="1" dirty="0">
                <a:solidFill>
                  <a:srgbClr val="03978F"/>
                </a:solidFill>
                <a:latin typeface="Roboto Slab Bold" pitchFamily="34" charset="0"/>
                <a:ea typeface="Roboto Slab Bold" pitchFamily="34" charset="-122"/>
                <a:cs typeface="Roboto Slab Bold" pitchFamily="34" charset="-120"/>
              </a:rPr>
              <a:t>EndoFlow's AI core: Five-Pillar AI Engine</a:t>
            </a:r>
            <a:endParaRPr lang="en-US" sz="3550" dirty="0"/>
          </a:p>
        </p:txBody>
      </p:sp>
      <p:sp>
        <p:nvSpPr>
          <p:cNvPr id="4" name="Text 1"/>
          <p:cNvSpPr/>
          <p:nvPr/>
        </p:nvSpPr>
        <p:spPr>
          <a:xfrm>
            <a:off x="10579775" y="2422923"/>
            <a:ext cx="3230225" cy="708660"/>
          </a:xfrm>
          <a:prstGeom prst="rect">
            <a:avLst/>
          </a:prstGeom>
          <a:noFill/>
          <a:ln/>
        </p:spPr>
        <p:txBody>
          <a:bodyPr wrap="square" lIns="0" tIns="0" rIns="0" bIns="0" rtlCol="0" anchor="t"/>
          <a:lstStyle/>
          <a:p>
            <a:pPr marL="0" indent="0">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"Hey </a:t>
            </a:r>
            <a:r>
              <a:rPr lang="en-US" sz="2200" b="1" dirty="0" err="1">
                <a:solidFill>
                  <a:srgbClr val="287170"/>
                </a:solidFill>
                <a:latin typeface="Roboto Slab Bold" pitchFamily="34" charset="0"/>
                <a:ea typeface="Roboto Slab Bold" pitchFamily="34" charset="-122"/>
                <a:cs typeface="Roboto Slab Bold" pitchFamily="34" charset="-120"/>
              </a:rPr>
              <a:t>EndoFlow</a:t>
            </a:r>
            <a:r>
              <a:rPr lang="en-US" sz="2200" b="1" dirty="0">
                <a:solidFill>
                  <a:srgbClr val="287170"/>
                </a:solidFill>
                <a:latin typeface="Roboto Slab Bold" pitchFamily="34" charset="0"/>
                <a:ea typeface="Roboto Slab Bold" pitchFamily="34" charset="-122"/>
                <a:cs typeface="Roboto Slab Bold" pitchFamily="34" charset="-120"/>
              </a:rPr>
              <a:t>”</a:t>
            </a:r>
          </a:p>
          <a:p>
            <a:pPr marL="0" indent="0">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Conversational AI</a:t>
            </a:r>
            <a:endParaRPr lang="en-US" sz="2200" dirty="0"/>
          </a:p>
        </p:txBody>
      </p:sp>
      <p:sp>
        <p:nvSpPr>
          <p:cNvPr id="5" name="Text 2"/>
          <p:cNvSpPr/>
          <p:nvPr/>
        </p:nvSpPr>
        <p:spPr>
          <a:xfrm>
            <a:off x="10298013" y="3156189"/>
            <a:ext cx="2934652" cy="725805"/>
          </a:xfrm>
          <a:prstGeom prst="rect">
            <a:avLst/>
          </a:prstGeom>
          <a:noFill/>
          <a:ln/>
        </p:spPr>
        <p:txBody>
          <a:bodyPr wrap="square" lIns="0" tIns="0" rIns="0" bIns="0" rtlCol="0" anchor="t"/>
          <a:lstStyle/>
          <a:p>
            <a:pPr marL="0" indent="0" algn="r">
              <a:lnSpc>
                <a:spcPts val="2850"/>
              </a:lnSpc>
              <a:buNone/>
            </a:pPr>
            <a:r>
              <a:rPr lang="en-US" sz="1750" dirty="0">
                <a:solidFill>
                  <a:srgbClr val="287170"/>
                </a:solidFill>
                <a:latin typeface="Roboto" pitchFamily="34" charset="0"/>
                <a:ea typeface="Roboto" pitchFamily="34" charset="-122"/>
                <a:cs typeface="Roboto" pitchFamily="34" charset="-120"/>
              </a:rPr>
              <a:t>Hands-free scribe assistant</a:t>
            </a:r>
            <a:endParaRPr lang="en-US" sz="1750" dirty="0"/>
          </a:p>
        </p:txBody>
      </p:sp>
      <p:pic>
        <p:nvPicPr>
          <p:cNvPr id="6" name="Image 1" descr="preencoded.png"/>
          <p:cNvPicPr>
            <a:picLocks noChangeAspect="1"/>
          </p:cNvPicPr>
          <p:nvPr/>
        </p:nvPicPr>
        <p:blipFill>
          <a:blip r:embed="rId4"/>
          <a:stretch>
            <a:fillRect/>
          </a:stretch>
        </p:blipFill>
        <p:spPr>
          <a:xfrm>
            <a:off x="8735973" y="3529489"/>
            <a:ext cx="2644735" cy="2644735"/>
          </a:xfrm>
          <a:prstGeom prst="rect">
            <a:avLst/>
          </a:prstGeom>
        </p:spPr>
      </p:pic>
      <p:sp>
        <p:nvSpPr>
          <p:cNvPr id="7" name="Text 3"/>
          <p:cNvSpPr/>
          <p:nvPr/>
        </p:nvSpPr>
        <p:spPr>
          <a:xfrm>
            <a:off x="9347835" y="4252198"/>
            <a:ext cx="318968" cy="398621"/>
          </a:xfrm>
          <a:prstGeom prst="rect">
            <a:avLst/>
          </a:prstGeom>
          <a:noFill/>
          <a:ln/>
        </p:spPr>
        <p:txBody>
          <a:bodyPr wrap="none" lIns="0" tIns="0" rIns="0" bIns="0" rtlCol="0" anchor="t"/>
          <a:lstStyle/>
          <a:p>
            <a:pPr marL="0" indent="0" algn="l">
              <a:lnSpc>
                <a:spcPts val="4000"/>
              </a:lnSpc>
              <a:buNone/>
            </a:pPr>
            <a:r>
              <a:rPr lang="en-US" sz="2500" b="1" dirty="0">
                <a:solidFill>
                  <a:srgbClr val="FFFFFF"/>
                </a:solidFill>
                <a:latin typeface="Roboto Slab Bold" pitchFamily="34" charset="0"/>
                <a:ea typeface="Roboto Slab Bold" pitchFamily="34" charset="-122"/>
                <a:cs typeface="Roboto Slab Bold" pitchFamily="34" charset="-120"/>
              </a:rPr>
              <a:t>1</a:t>
            </a:r>
            <a:endParaRPr lang="en-US" sz="2500" dirty="0"/>
          </a:p>
        </p:txBody>
      </p:sp>
      <p:sp>
        <p:nvSpPr>
          <p:cNvPr id="8" name="Text 4"/>
          <p:cNvSpPr/>
          <p:nvPr/>
        </p:nvSpPr>
        <p:spPr>
          <a:xfrm>
            <a:off x="6846102" y="2741176"/>
            <a:ext cx="2455902" cy="354330"/>
          </a:xfrm>
          <a:prstGeom prst="rect">
            <a:avLst/>
          </a:prstGeom>
          <a:noFill/>
          <a:ln/>
        </p:spPr>
        <p:txBody>
          <a:bodyPr wrap="none" lIns="0" tIns="0" rIns="0" bIns="0" rtlCol="0" anchor="t"/>
          <a:lstStyle/>
          <a:p>
            <a:pPr marL="0" indent="0" algn="r">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Endo-AI Co-Pilot</a:t>
            </a:r>
            <a:endParaRPr lang="en-US" sz="2200" dirty="0"/>
          </a:p>
        </p:txBody>
      </p:sp>
      <p:sp>
        <p:nvSpPr>
          <p:cNvPr id="9" name="Text 5"/>
          <p:cNvSpPr/>
          <p:nvPr/>
        </p:nvSpPr>
        <p:spPr>
          <a:xfrm>
            <a:off x="6277094" y="3251597"/>
            <a:ext cx="3230225" cy="725805"/>
          </a:xfrm>
          <a:prstGeom prst="rect">
            <a:avLst/>
          </a:prstGeom>
          <a:noFill/>
          <a:ln/>
        </p:spPr>
        <p:txBody>
          <a:bodyPr wrap="squar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Evidence-based clinical partner</a:t>
            </a:r>
            <a:endParaRPr lang="en-US" sz="1750" dirty="0"/>
          </a:p>
        </p:txBody>
      </p:sp>
      <p:pic>
        <p:nvPicPr>
          <p:cNvPr id="10" name="Image 2" descr="preencoded.png"/>
          <p:cNvPicPr>
            <a:picLocks noChangeAspect="1"/>
          </p:cNvPicPr>
          <p:nvPr/>
        </p:nvPicPr>
        <p:blipFill>
          <a:blip r:embed="rId5"/>
          <a:stretch>
            <a:fillRect/>
          </a:stretch>
        </p:blipFill>
        <p:spPr>
          <a:xfrm>
            <a:off x="8735973" y="3529489"/>
            <a:ext cx="2644735" cy="2644735"/>
          </a:xfrm>
          <a:prstGeom prst="rect">
            <a:avLst/>
          </a:prstGeom>
        </p:spPr>
      </p:pic>
      <p:sp>
        <p:nvSpPr>
          <p:cNvPr id="11" name="Text 6"/>
          <p:cNvSpPr/>
          <p:nvPr/>
        </p:nvSpPr>
        <p:spPr>
          <a:xfrm>
            <a:off x="10109240" y="4004786"/>
            <a:ext cx="318968" cy="398621"/>
          </a:xfrm>
          <a:prstGeom prst="rect">
            <a:avLst/>
          </a:prstGeom>
          <a:noFill/>
          <a:ln/>
        </p:spPr>
        <p:txBody>
          <a:bodyPr wrap="none" lIns="0" tIns="0" rIns="0" bIns="0" rtlCol="0" anchor="t"/>
          <a:lstStyle/>
          <a:p>
            <a:pPr marL="0" indent="0" algn="l">
              <a:lnSpc>
                <a:spcPts val="4000"/>
              </a:lnSpc>
              <a:buNone/>
            </a:pPr>
            <a:r>
              <a:rPr lang="en-US" sz="2500" b="1" dirty="0">
                <a:solidFill>
                  <a:srgbClr val="FFFFFF"/>
                </a:solidFill>
                <a:latin typeface="Roboto Slab Bold" pitchFamily="34" charset="0"/>
                <a:ea typeface="Roboto Slab Bold" pitchFamily="34" charset="-122"/>
                <a:cs typeface="Roboto Slab Bold" pitchFamily="34" charset="-120"/>
              </a:rPr>
              <a:t>2</a:t>
            </a:r>
            <a:endParaRPr lang="en-US" sz="2500" dirty="0"/>
          </a:p>
        </p:txBody>
      </p:sp>
      <p:sp>
        <p:nvSpPr>
          <p:cNvPr id="12" name="Text 7"/>
          <p:cNvSpPr/>
          <p:nvPr/>
        </p:nvSpPr>
        <p:spPr>
          <a:xfrm>
            <a:off x="11510605" y="4173325"/>
            <a:ext cx="2002274" cy="708660"/>
          </a:xfrm>
          <a:prstGeom prst="rect">
            <a:avLst/>
          </a:prstGeom>
          <a:noFill/>
          <a:ln/>
        </p:spPr>
        <p:txBody>
          <a:bodyPr wrap="square" lIns="0" tIns="0" rIns="0" bIns="0" rtlCol="0" anchor="t"/>
          <a:lstStyle/>
          <a:p>
            <a:pPr marL="0" indent="0" algn="l">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Research &amp; Analytics AI</a:t>
            </a:r>
            <a:endParaRPr lang="en-US" sz="2200" dirty="0"/>
          </a:p>
        </p:txBody>
      </p:sp>
      <p:sp>
        <p:nvSpPr>
          <p:cNvPr id="13" name="Text 8"/>
          <p:cNvSpPr/>
          <p:nvPr/>
        </p:nvSpPr>
        <p:spPr>
          <a:xfrm>
            <a:off x="11510605" y="4913973"/>
            <a:ext cx="3300266" cy="725805"/>
          </a:xfrm>
          <a:prstGeom prst="rect">
            <a:avLst/>
          </a:prstGeom>
          <a:noFill/>
          <a:ln/>
        </p:spPr>
        <p:txBody>
          <a:bodyPr wrap="squar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Internal research department</a:t>
            </a:r>
            <a:endParaRPr lang="en-US" sz="1750" dirty="0"/>
          </a:p>
        </p:txBody>
      </p:sp>
      <p:pic>
        <p:nvPicPr>
          <p:cNvPr id="14" name="Image 3" descr="preencoded.png"/>
          <p:cNvPicPr>
            <a:picLocks noChangeAspect="1"/>
          </p:cNvPicPr>
          <p:nvPr/>
        </p:nvPicPr>
        <p:blipFill>
          <a:blip r:embed="rId6"/>
          <a:stretch>
            <a:fillRect/>
          </a:stretch>
        </p:blipFill>
        <p:spPr>
          <a:xfrm>
            <a:off x="8735973" y="3529489"/>
            <a:ext cx="2644735" cy="2644735"/>
          </a:xfrm>
          <a:prstGeom prst="rect">
            <a:avLst/>
          </a:prstGeom>
        </p:spPr>
      </p:pic>
      <p:sp>
        <p:nvSpPr>
          <p:cNvPr id="15" name="Text 9"/>
          <p:cNvSpPr/>
          <p:nvPr/>
        </p:nvSpPr>
        <p:spPr>
          <a:xfrm>
            <a:off x="10579775" y="4652486"/>
            <a:ext cx="318968" cy="398621"/>
          </a:xfrm>
          <a:prstGeom prst="rect">
            <a:avLst/>
          </a:prstGeom>
          <a:noFill/>
          <a:ln/>
        </p:spPr>
        <p:txBody>
          <a:bodyPr wrap="none" lIns="0" tIns="0" rIns="0" bIns="0" rtlCol="0" anchor="t"/>
          <a:lstStyle/>
          <a:p>
            <a:pPr marL="0" indent="0" algn="l">
              <a:lnSpc>
                <a:spcPts val="4000"/>
              </a:lnSpc>
              <a:buNone/>
            </a:pPr>
            <a:r>
              <a:rPr lang="en-US" sz="2500" b="1" dirty="0">
                <a:solidFill>
                  <a:srgbClr val="FFFFFF"/>
                </a:solidFill>
                <a:latin typeface="Roboto Slab Bold" pitchFamily="34" charset="0"/>
                <a:ea typeface="Roboto Slab Bold" pitchFamily="34" charset="-122"/>
                <a:cs typeface="Roboto Slab Bold" pitchFamily="34" charset="-120"/>
              </a:rPr>
              <a:t>3</a:t>
            </a:r>
            <a:endParaRPr lang="en-US" sz="2500" dirty="0"/>
          </a:p>
        </p:txBody>
      </p:sp>
      <p:sp>
        <p:nvSpPr>
          <p:cNvPr id="16" name="Text 10"/>
          <p:cNvSpPr/>
          <p:nvPr/>
        </p:nvSpPr>
        <p:spPr>
          <a:xfrm>
            <a:off x="10152757" y="6206212"/>
            <a:ext cx="3300266" cy="708660"/>
          </a:xfrm>
          <a:prstGeom prst="rect">
            <a:avLst/>
          </a:prstGeom>
          <a:noFill/>
          <a:ln/>
        </p:spPr>
        <p:txBody>
          <a:bodyPr wrap="square" lIns="0" tIns="0" rIns="0" bIns="0" rtlCol="0" anchor="t"/>
          <a:lstStyle/>
          <a:p>
            <a:pPr marL="0" indent="0" algn="l">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Self-Learning AI</a:t>
            </a:r>
            <a:endParaRPr lang="en-US" sz="2200" dirty="0"/>
          </a:p>
        </p:txBody>
      </p:sp>
      <p:sp>
        <p:nvSpPr>
          <p:cNvPr id="17" name="Text 11"/>
          <p:cNvSpPr/>
          <p:nvPr/>
        </p:nvSpPr>
        <p:spPr>
          <a:xfrm>
            <a:off x="10152757" y="6664375"/>
            <a:ext cx="3421762" cy="725805"/>
          </a:xfrm>
          <a:prstGeom prst="rect">
            <a:avLst/>
          </a:prstGeom>
          <a:noFill/>
          <a:ln/>
        </p:spPr>
        <p:txBody>
          <a:bodyPr wrap="squar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Personalised clinical memory</a:t>
            </a:r>
            <a:endParaRPr lang="en-US" sz="1750" dirty="0"/>
          </a:p>
        </p:txBody>
      </p:sp>
      <p:pic>
        <p:nvPicPr>
          <p:cNvPr id="18" name="Image 4" descr="preencoded.png"/>
          <p:cNvPicPr>
            <a:picLocks noChangeAspect="1"/>
          </p:cNvPicPr>
          <p:nvPr/>
        </p:nvPicPr>
        <p:blipFill>
          <a:blip r:embed="rId7"/>
          <a:stretch>
            <a:fillRect/>
          </a:stretch>
        </p:blipFill>
        <p:spPr>
          <a:xfrm>
            <a:off x="8735973" y="3529489"/>
            <a:ext cx="2644735" cy="2644735"/>
          </a:xfrm>
          <a:prstGeom prst="rect">
            <a:avLst/>
          </a:prstGeom>
        </p:spPr>
      </p:pic>
      <p:sp>
        <p:nvSpPr>
          <p:cNvPr id="19" name="Text 12"/>
          <p:cNvSpPr/>
          <p:nvPr/>
        </p:nvSpPr>
        <p:spPr>
          <a:xfrm>
            <a:off x="10109240" y="5300186"/>
            <a:ext cx="318968" cy="398621"/>
          </a:xfrm>
          <a:prstGeom prst="rect">
            <a:avLst/>
          </a:prstGeom>
          <a:noFill/>
          <a:ln/>
        </p:spPr>
        <p:txBody>
          <a:bodyPr wrap="none" lIns="0" tIns="0" rIns="0" bIns="0" rtlCol="0" anchor="t"/>
          <a:lstStyle/>
          <a:p>
            <a:pPr marL="0" indent="0" algn="l">
              <a:lnSpc>
                <a:spcPts val="4000"/>
              </a:lnSpc>
              <a:buNone/>
            </a:pPr>
            <a:r>
              <a:rPr lang="en-US" sz="2500" b="1" dirty="0">
                <a:solidFill>
                  <a:srgbClr val="FFFFFF"/>
                </a:solidFill>
                <a:latin typeface="Roboto Slab Bold" pitchFamily="34" charset="0"/>
                <a:ea typeface="Roboto Slab Bold" pitchFamily="34" charset="-122"/>
                <a:cs typeface="Roboto Slab Bold" pitchFamily="34" charset="-120"/>
              </a:rPr>
              <a:t>4</a:t>
            </a:r>
            <a:endParaRPr lang="en-US" sz="2500" dirty="0"/>
          </a:p>
        </p:txBody>
      </p:sp>
      <p:sp>
        <p:nvSpPr>
          <p:cNvPr id="20" name="Text 13"/>
          <p:cNvSpPr/>
          <p:nvPr/>
        </p:nvSpPr>
        <p:spPr>
          <a:xfrm>
            <a:off x="6280190" y="5681067"/>
            <a:ext cx="2455783" cy="354330"/>
          </a:xfrm>
          <a:prstGeom prst="rect">
            <a:avLst/>
          </a:prstGeom>
          <a:noFill/>
          <a:ln/>
        </p:spPr>
        <p:txBody>
          <a:bodyPr wrap="none" lIns="0" tIns="0" rIns="0" bIns="0" rtlCol="0" anchor="t"/>
          <a:lstStyle/>
          <a:p>
            <a:pPr marL="0" indent="0" algn="r">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AI Scheduler</a:t>
            </a:r>
            <a:endParaRPr lang="en-US" sz="2200" dirty="0"/>
          </a:p>
        </p:txBody>
      </p:sp>
      <p:sp>
        <p:nvSpPr>
          <p:cNvPr id="21" name="Text 14"/>
          <p:cNvSpPr/>
          <p:nvPr/>
        </p:nvSpPr>
        <p:spPr>
          <a:xfrm>
            <a:off x="6280190" y="6171486"/>
            <a:ext cx="2455783" cy="362903"/>
          </a:xfrm>
          <a:prstGeom prst="rect">
            <a:avLst/>
          </a:prstGeom>
          <a:noFill/>
          <a:ln/>
        </p:spPr>
        <p:txBody>
          <a:bodyPr wrap="none" lIns="0" tIns="0" rIns="0" bIns="0" rtlCol="0" anchor="t"/>
          <a:lstStyle/>
          <a:p>
            <a:pPr marL="0" indent="0" algn="r">
              <a:lnSpc>
                <a:spcPts val="2850"/>
              </a:lnSpc>
              <a:buNone/>
            </a:pPr>
            <a:r>
              <a:rPr lang="en-US" sz="1750" dirty="0">
                <a:solidFill>
                  <a:srgbClr val="287170"/>
                </a:solidFill>
                <a:latin typeface="Roboto" pitchFamily="34" charset="0"/>
                <a:ea typeface="Roboto" pitchFamily="34" charset="-122"/>
                <a:cs typeface="Roboto" pitchFamily="34" charset="-120"/>
              </a:rPr>
              <a:t>Proactive optimisation</a:t>
            </a:r>
            <a:endParaRPr lang="en-US" sz="1750" dirty="0"/>
          </a:p>
        </p:txBody>
      </p:sp>
      <p:pic>
        <p:nvPicPr>
          <p:cNvPr id="22" name="Image 5" descr="preencoded.png"/>
          <p:cNvPicPr>
            <a:picLocks noChangeAspect="1"/>
          </p:cNvPicPr>
          <p:nvPr/>
        </p:nvPicPr>
        <p:blipFill>
          <a:blip r:embed="rId8"/>
          <a:stretch>
            <a:fillRect/>
          </a:stretch>
        </p:blipFill>
        <p:spPr>
          <a:xfrm>
            <a:off x="8735973" y="3529489"/>
            <a:ext cx="2644735" cy="2644735"/>
          </a:xfrm>
          <a:prstGeom prst="rect">
            <a:avLst/>
          </a:prstGeom>
        </p:spPr>
      </p:pic>
      <p:sp>
        <p:nvSpPr>
          <p:cNvPr id="23" name="Text 15"/>
          <p:cNvSpPr/>
          <p:nvPr/>
        </p:nvSpPr>
        <p:spPr>
          <a:xfrm>
            <a:off x="9347835" y="5052774"/>
            <a:ext cx="318968" cy="398621"/>
          </a:xfrm>
          <a:prstGeom prst="rect">
            <a:avLst/>
          </a:prstGeom>
          <a:noFill/>
          <a:ln/>
        </p:spPr>
        <p:txBody>
          <a:bodyPr wrap="none" lIns="0" tIns="0" rIns="0" bIns="0" rtlCol="0" anchor="t"/>
          <a:lstStyle/>
          <a:p>
            <a:pPr marL="0" indent="0" algn="l">
              <a:lnSpc>
                <a:spcPts val="4000"/>
              </a:lnSpc>
              <a:buNone/>
            </a:pPr>
            <a:r>
              <a:rPr lang="en-US" sz="2500" b="1" dirty="0">
                <a:solidFill>
                  <a:srgbClr val="FFFFFF"/>
                </a:solidFill>
                <a:latin typeface="Roboto Slab Bold" pitchFamily="34" charset="0"/>
                <a:ea typeface="Roboto Slab Bold" pitchFamily="34" charset="-122"/>
                <a:cs typeface="Roboto Slab Bold" pitchFamily="34" charset="-120"/>
              </a:rPr>
              <a:t>5</a:t>
            </a:r>
            <a:endParaRPr lang="en-US" sz="2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pic>
        <p:nvPicPr>
          <p:cNvPr id="4" name="Video 3">
            <a:hlinkClick r:id="" action="ppaction://media"/>
            <a:extLst>
              <a:ext uri="{FF2B5EF4-FFF2-40B4-BE49-F238E27FC236}">
                <a16:creationId xmlns:a16="http://schemas.microsoft.com/office/drawing/2014/main" id="{D43AA2ED-DEDA-EF96-EC9F-C5829F3C9A8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9014" y="-72571"/>
            <a:ext cx="14853757" cy="83552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678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99135"/>
            <a:ext cx="7841933" cy="637937"/>
          </a:xfrm>
          <a:prstGeom prst="rect">
            <a:avLst/>
          </a:prstGeom>
          <a:noFill/>
          <a:ln/>
        </p:spPr>
        <p:txBody>
          <a:bodyPr wrap="none" lIns="0" tIns="0" rIns="0" bIns="0" rtlCol="0" anchor="t"/>
          <a:lstStyle/>
          <a:p>
            <a:pPr marL="0" indent="0" algn="l">
              <a:lnSpc>
                <a:spcPts val="5000"/>
              </a:lnSpc>
              <a:buNone/>
            </a:pPr>
            <a:r>
              <a:rPr lang="en-US" sz="4000" b="1" dirty="0">
                <a:solidFill>
                  <a:srgbClr val="03978F"/>
                </a:solidFill>
                <a:latin typeface="Roboto Slab Bold" pitchFamily="34" charset="0"/>
                <a:ea typeface="Roboto Slab Bold" pitchFamily="34" charset="-122"/>
                <a:cs typeface="Roboto Slab Bold" pitchFamily="34" charset="-120"/>
              </a:rPr>
              <a:t>AI-Powered Clinical Intelligence</a:t>
            </a:r>
            <a:endParaRPr lang="en-US" sz="4000" dirty="0"/>
          </a:p>
        </p:txBody>
      </p:sp>
      <p:sp>
        <p:nvSpPr>
          <p:cNvPr id="3" name="Text 1"/>
          <p:cNvSpPr/>
          <p:nvPr/>
        </p:nvSpPr>
        <p:spPr>
          <a:xfrm>
            <a:off x="793790" y="1745337"/>
            <a:ext cx="13042821" cy="653415"/>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EndoFlow is built upon a sophisticated AI engine, integrating five core components designed to enhance every aspect of your endodontic practice.</a:t>
            </a:r>
            <a:endParaRPr lang="en-US" sz="16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628305"/>
            <a:ext cx="612338" cy="612338"/>
          </a:xfrm>
          <a:prstGeom prst="rect">
            <a:avLst/>
          </a:prstGeom>
        </p:spPr>
      </p:pic>
      <p:sp>
        <p:nvSpPr>
          <p:cNvPr id="5" name="Text 2"/>
          <p:cNvSpPr/>
          <p:nvPr/>
        </p:nvSpPr>
        <p:spPr>
          <a:xfrm>
            <a:off x="1661279" y="2800469"/>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287170"/>
                </a:solidFill>
                <a:latin typeface="Roboto Slab Bold" pitchFamily="34" charset="0"/>
                <a:ea typeface="Roboto Slab Bold" pitchFamily="34" charset="-122"/>
                <a:cs typeface="Roboto Slab Bold" pitchFamily="34" charset="-120"/>
              </a:rPr>
              <a:t>Clinic Analytics AI</a:t>
            </a:r>
            <a:endParaRPr lang="en-US" sz="2000" dirty="0"/>
          </a:p>
        </p:txBody>
      </p:sp>
      <p:sp>
        <p:nvSpPr>
          <p:cNvPr id="6" name="Text 3"/>
          <p:cNvSpPr/>
          <p:nvPr/>
        </p:nvSpPr>
        <p:spPr>
          <a:xfrm>
            <a:off x="1661279" y="3241715"/>
            <a:ext cx="3309938" cy="1306830"/>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Our AI continuously analyzes vast datasets, bringing the latest clinical evidence and insights directly to your workflow.</a:t>
            </a:r>
            <a:endParaRPr lang="en-US" sz="16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6368" y="2628305"/>
            <a:ext cx="612338" cy="612338"/>
          </a:xfrm>
          <a:prstGeom prst="rect">
            <a:avLst/>
          </a:prstGeom>
        </p:spPr>
      </p:pic>
      <p:sp>
        <p:nvSpPr>
          <p:cNvPr id="8" name="Text 4"/>
          <p:cNvSpPr/>
          <p:nvPr/>
        </p:nvSpPr>
        <p:spPr>
          <a:xfrm>
            <a:off x="6093857" y="2800469"/>
            <a:ext cx="2870478" cy="318849"/>
          </a:xfrm>
          <a:prstGeom prst="rect">
            <a:avLst/>
          </a:prstGeom>
          <a:noFill/>
          <a:ln/>
        </p:spPr>
        <p:txBody>
          <a:bodyPr wrap="none" lIns="0" tIns="0" rIns="0" bIns="0" rtlCol="0" anchor="t"/>
          <a:lstStyle/>
          <a:p>
            <a:pPr marL="0" indent="0" algn="l">
              <a:lnSpc>
                <a:spcPts val="2500"/>
              </a:lnSpc>
              <a:buNone/>
            </a:pPr>
            <a:r>
              <a:rPr lang="en-US" sz="2000" b="1" dirty="0">
                <a:solidFill>
                  <a:srgbClr val="287170"/>
                </a:solidFill>
                <a:latin typeface="Roboto Slab Bold" pitchFamily="34" charset="0"/>
                <a:ea typeface="Roboto Slab Bold" pitchFamily="34" charset="-122"/>
                <a:cs typeface="Roboto Slab Bold" pitchFamily="34" charset="-120"/>
              </a:rPr>
              <a:t>Self-Learning Assistant</a:t>
            </a:r>
            <a:endParaRPr lang="en-US" sz="2000" dirty="0"/>
          </a:p>
        </p:txBody>
      </p:sp>
      <p:sp>
        <p:nvSpPr>
          <p:cNvPr id="9" name="Text 5"/>
          <p:cNvSpPr/>
          <p:nvPr/>
        </p:nvSpPr>
        <p:spPr>
          <a:xfrm>
            <a:off x="6093857" y="3241715"/>
            <a:ext cx="3310057" cy="1306830"/>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EndoFlow learns from your practice's unique patterns and outcomes, providing personalized support that evolves with you.</a:t>
            </a:r>
            <a:endParaRPr lang="en-US" sz="16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9064" y="2628305"/>
            <a:ext cx="612338" cy="612338"/>
          </a:xfrm>
          <a:prstGeom prst="rect">
            <a:avLst/>
          </a:prstGeom>
        </p:spPr>
      </p:pic>
      <p:sp>
        <p:nvSpPr>
          <p:cNvPr id="11" name="Text 6"/>
          <p:cNvSpPr/>
          <p:nvPr/>
        </p:nvSpPr>
        <p:spPr>
          <a:xfrm>
            <a:off x="10526554" y="2800469"/>
            <a:ext cx="3192304" cy="318849"/>
          </a:xfrm>
          <a:prstGeom prst="rect">
            <a:avLst/>
          </a:prstGeom>
          <a:noFill/>
          <a:ln/>
        </p:spPr>
        <p:txBody>
          <a:bodyPr wrap="none" lIns="0" tIns="0" rIns="0" bIns="0" rtlCol="0" anchor="t"/>
          <a:lstStyle/>
          <a:p>
            <a:pPr marL="0" indent="0" algn="l">
              <a:lnSpc>
                <a:spcPts val="2500"/>
              </a:lnSpc>
              <a:buNone/>
            </a:pPr>
            <a:r>
              <a:rPr lang="en-US" sz="2000" b="1" dirty="0">
                <a:solidFill>
                  <a:srgbClr val="287170"/>
                </a:solidFill>
                <a:latin typeface="Roboto Slab Bold" pitchFamily="34" charset="0"/>
                <a:ea typeface="Roboto Slab Bold" pitchFamily="34" charset="-122"/>
                <a:cs typeface="Roboto Slab Bold" pitchFamily="34" charset="-120"/>
              </a:rPr>
              <a:t>Voice-Controlled Interface</a:t>
            </a:r>
            <a:endParaRPr lang="en-US" sz="2000" dirty="0"/>
          </a:p>
        </p:txBody>
      </p:sp>
      <p:sp>
        <p:nvSpPr>
          <p:cNvPr id="12" name="Text 7"/>
          <p:cNvSpPr/>
          <p:nvPr/>
        </p:nvSpPr>
        <p:spPr>
          <a:xfrm>
            <a:off x="10526554" y="3241715"/>
            <a:ext cx="3309938" cy="1306830"/>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Interact seamlessly with EndoFlow using natural language, allowing for hands-free documentation and immediate information retrieval.</a:t>
            </a:r>
            <a:endParaRPr lang="en-US" sz="16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3790" y="4956810"/>
            <a:ext cx="612338" cy="612338"/>
          </a:xfrm>
          <a:prstGeom prst="rect">
            <a:avLst/>
          </a:prstGeom>
        </p:spPr>
      </p:pic>
      <p:sp>
        <p:nvSpPr>
          <p:cNvPr id="14" name="Text 8"/>
          <p:cNvSpPr/>
          <p:nvPr/>
        </p:nvSpPr>
        <p:spPr>
          <a:xfrm>
            <a:off x="1661279" y="5128974"/>
            <a:ext cx="2670572" cy="318849"/>
          </a:xfrm>
          <a:prstGeom prst="rect">
            <a:avLst/>
          </a:prstGeom>
          <a:noFill/>
          <a:ln/>
        </p:spPr>
        <p:txBody>
          <a:bodyPr wrap="none" lIns="0" tIns="0" rIns="0" bIns="0" rtlCol="0" anchor="t"/>
          <a:lstStyle/>
          <a:p>
            <a:pPr marL="0" indent="0" algn="l">
              <a:lnSpc>
                <a:spcPts val="2500"/>
              </a:lnSpc>
              <a:buNone/>
            </a:pPr>
            <a:r>
              <a:rPr lang="en-US" sz="2000" b="1" dirty="0">
                <a:solidFill>
                  <a:srgbClr val="287170"/>
                </a:solidFill>
                <a:latin typeface="Roboto Slab Bold" pitchFamily="34" charset="0"/>
                <a:ea typeface="Roboto Slab Bold" pitchFamily="34" charset="-122"/>
                <a:cs typeface="Roboto Slab Bold" pitchFamily="34" charset="-120"/>
              </a:rPr>
              <a:t>Predictive Scheduling</a:t>
            </a:r>
            <a:endParaRPr lang="en-US" sz="2000" dirty="0"/>
          </a:p>
        </p:txBody>
      </p:sp>
      <p:sp>
        <p:nvSpPr>
          <p:cNvPr id="15" name="Text 9"/>
          <p:cNvSpPr/>
          <p:nvPr/>
        </p:nvSpPr>
        <p:spPr>
          <a:xfrm>
            <a:off x="1661279" y="5570220"/>
            <a:ext cx="3309938" cy="1306830"/>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Optimize your patient flow and appointment book with AI-driven predictions, minimizing no-shows and maximizing efficiency.</a:t>
            </a:r>
            <a:endParaRPr lang="en-US" sz="160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26368" y="4956810"/>
            <a:ext cx="612338" cy="612338"/>
          </a:xfrm>
          <a:prstGeom prst="rect">
            <a:avLst/>
          </a:prstGeom>
        </p:spPr>
      </p:pic>
      <p:sp>
        <p:nvSpPr>
          <p:cNvPr id="17" name="Text 10"/>
          <p:cNvSpPr/>
          <p:nvPr/>
        </p:nvSpPr>
        <p:spPr>
          <a:xfrm>
            <a:off x="6093857" y="5128974"/>
            <a:ext cx="3310057" cy="637699"/>
          </a:xfrm>
          <a:prstGeom prst="rect">
            <a:avLst/>
          </a:prstGeom>
          <a:noFill/>
          <a:ln/>
        </p:spPr>
        <p:txBody>
          <a:bodyPr wrap="square" lIns="0" tIns="0" rIns="0" bIns="0" rtlCol="0" anchor="t"/>
          <a:lstStyle/>
          <a:p>
            <a:pPr marL="0" indent="0" algn="l">
              <a:lnSpc>
                <a:spcPts val="2500"/>
              </a:lnSpc>
              <a:buNone/>
            </a:pPr>
            <a:r>
              <a:rPr lang="en-US" sz="2000" b="1" dirty="0">
                <a:solidFill>
                  <a:srgbClr val="287170"/>
                </a:solidFill>
                <a:latin typeface="Roboto Slab Bold" pitchFamily="34" charset="0"/>
                <a:ea typeface="Roboto Slab Bold" pitchFamily="34" charset="-122"/>
                <a:cs typeface="Roboto Slab Bold" pitchFamily="34" charset="-120"/>
              </a:rPr>
              <a:t>Intelligent Task Management</a:t>
            </a:r>
            <a:endParaRPr lang="en-US" sz="2000" dirty="0"/>
          </a:p>
        </p:txBody>
      </p:sp>
      <p:sp>
        <p:nvSpPr>
          <p:cNvPr id="18" name="Text 11"/>
          <p:cNvSpPr/>
          <p:nvPr/>
        </p:nvSpPr>
        <p:spPr>
          <a:xfrm>
            <a:off x="6093857" y="5889069"/>
            <a:ext cx="3310057" cy="1306830"/>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Streamline administrative and clinical tasks, ensuring no detail is overlooked and practice operations run smoothly.</a:t>
            </a:r>
            <a:endParaRPr lang="en-US" sz="1600" dirty="0"/>
          </a:p>
        </p:txBody>
      </p:sp>
      <p:pic>
        <p:nvPicPr>
          <p:cNvPr id="1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59064" y="4956810"/>
            <a:ext cx="612338" cy="612338"/>
          </a:xfrm>
          <a:prstGeom prst="rect">
            <a:avLst/>
          </a:prstGeom>
        </p:spPr>
      </p:pic>
      <p:sp>
        <p:nvSpPr>
          <p:cNvPr id="20" name="Text 12"/>
          <p:cNvSpPr/>
          <p:nvPr/>
        </p:nvSpPr>
        <p:spPr>
          <a:xfrm>
            <a:off x="10526554" y="5128974"/>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287170"/>
                </a:solidFill>
                <a:latin typeface="Roboto Slab Bold" pitchFamily="34" charset="0"/>
                <a:ea typeface="Roboto Slab Bold" pitchFamily="34" charset="-122"/>
                <a:cs typeface="Roboto Slab Bold" pitchFamily="34" charset="-120"/>
              </a:rPr>
              <a:t>Research Project AI</a:t>
            </a:r>
            <a:endParaRPr lang="en-US" sz="2000" dirty="0"/>
          </a:p>
        </p:txBody>
      </p:sp>
      <p:sp>
        <p:nvSpPr>
          <p:cNvPr id="21" name="Text 13"/>
          <p:cNvSpPr/>
          <p:nvPr/>
        </p:nvSpPr>
        <p:spPr>
          <a:xfrm>
            <a:off x="10526554" y="5570220"/>
            <a:ext cx="3309938" cy="1960245"/>
          </a:xfrm>
          <a:prstGeom prst="rect">
            <a:avLst/>
          </a:prstGeom>
          <a:noFill/>
          <a:ln/>
        </p:spPr>
        <p:txBody>
          <a:bodyPr wrap="square" lIns="0" tIns="0" rIns="0" bIns="0" rtlCol="0" anchor="t"/>
          <a:lstStyle/>
          <a:p>
            <a:pPr marL="0" indent="0" algn="l">
              <a:lnSpc>
                <a:spcPts val="2550"/>
              </a:lnSpc>
              <a:buNone/>
            </a:pPr>
            <a:r>
              <a:rPr lang="en-US" sz="1600" dirty="0">
                <a:solidFill>
                  <a:srgbClr val="287170"/>
                </a:solidFill>
                <a:latin typeface="Roboto" pitchFamily="34" charset="0"/>
                <a:ea typeface="Roboto" pitchFamily="34" charset="-122"/>
                <a:cs typeface="Roboto" pitchFamily="34" charset="-120"/>
              </a:rPr>
              <a:t>Helps you create research projects and provides live AI analytics. Talk to your thesis, create projects by dictating or writing inclusion criteria, and AI will find all patients that fit the criteria.</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00890DC-A7C5-ED70-D580-C3C7D332BEA3}"/>
              </a:ext>
            </a:extLst>
          </p:cNvPr>
          <p:cNvGraphicFramePr>
            <a:graphicFrameLocks noGrp="1"/>
          </p:cNvGraphicFramePr>
          <p:nvPr>
            <p:extLst>
              <p:ext uri="{D42A27DB-BD31-4B8C-83A1-F6EECF244321}">
                <p14:modId xmlns:p14="http://schemas.microsoft.com/office/powerpoint/2010/main" val="1516356178"/>
              </p:ext>
            </p:extLst>
          </p:nvPr>
        </p:nvGraphicFramePr>
        <p:xfrm>
          <a:off x="471791" y="1086636"/>
          <a:ext cx="13686817" cy="6990449"/>
        </p:xfrm>
        <a:graphic>
          <a:graphicData uri="http://schemas.openxmlformats.org/drawingml/2006/table">
            <a:tbl>
              <a:tblPr>
                <a:solidFill>
                  <a:srgbClr val="EDFBFE"/>
                </a:solidFill>
                <a:tableStyleId>{16D9F66E-5EB9-4882-86FB-DCBF35E3C3E4}</a:tableStyleId>
              </a:tblPr>
              <a:tblGrid>
                <a:gridCol w="2754595">
                  <a:extLst>
                    <a:ext uri="{9D8B030D-6E8A-4147-A177-3AD203B41FA5}">
                      <a16:colId xmlns:a16="http://schemas.microsoft.com/office/drawing/2014/main" val="1064730902"/>
                    </a:ext>
                  </a:extLst>
                </a:gridCol>
                <a:gridCol w="1282093">
                  <a:extLst>
                    <a:ext uri="{9D8B030D-6E8A-4147-A177-3AD203B41FA5}">
                      <a16:colId xmlns:a16="http://schemas.microsoft.com/office/drawing/2014/main" val="2450245475"/>
                    </a:ext>
                  </a:extLst>
                </a:gridCol>
                <a:gridCol w="964743">
                  <a:extLst>
                    <a:ext uri="{9D8B030D-6E8A-4147-A177-3AD203B41FA5}">
                      <a16:colId xmlns:a16="http://schemas.microsoft.com/office/drawing/2014/main" val="900585581"/>
                    </a:ext>
                  </a:extLst>
                </a:gridCol>
                <a:gridCol w="850498">
                  <a:extLst>
                    <a:ext uri="{9D8B030D-6E8A-4147-A177-3AD203B41FA5}">
                      <a16:colId xmlns:a16="http://schemas.microsoft.com/office/drawing/2014/main" val="902542425"/>
                    </a:ext>
                  </a:extLst>
                </a:gridCol>
                <a:gridCol w="1294789">
                  <a:extLst>
                    <a:ext uri="{9D8B030D-6E8A-4147-A177-3AD203B41FA5}">
                      <a16:colId xmlns:a16="http://schemas.microsoft.com/office/drawing/2014/main" val="3571077252"/>
                    </a:ext>
                  </a:extLst>
                </a:gridCol>
                <a:gridCol w="1069617">
                  <a:extLst>
                    <a:ext uri="{9D8B030D-6E8A-4147-A177-3AD203B41FA5}">
                      <a16:colId xmlns:a16="http://schemas.microsoft.com/office/drawing/2014/main" val="2430471834"/>
                    </a:ext>
                  </a:extLst>
                </a:gridCol>
                <a:gridCol w="1282094">
                  <a:extLst>
                    <a:ext uri="{9D8B030D-6E8A-4147-A177-3AD203B41FA5}">
                      <a16:colId xmlns:a16="http://schemas.microsoft.com/office/drawing/2014/main" val="1908353302"/>
                    </a:ext>
                  </a:extLst>
                </a:gridCol>
                <a:gridCol w="1566301">
                  <a:extLst>
                    <a:ext uri="{9D8B030D-6E8A-4147-A177-3AD203B41FA5}">
                      <a16:colId xmlns:a16="http://schemas.microsoft.com/office/drawing/2014/main" val="3372632934"/>
                    </a:ext>
                  </a:extLst>
                </a:gridCol>
                <a:gridCol w="679703">
                  <a:extLst>
                    <a:ext uri="{9D8B030D-6E8A-4147-A177-3AD203B41FA5}">
                      <a16:colId xmlns:a16="http://schemas.microsoft.com/office/drawing/2014/main" val="611963851"/>
                    </a:ext>
                  </a:extLst>
                </a:gridCol>
                <a:gridCol w="1182621">
                  <a:extLst>
                    <a:ext uri="{9D8B030D-6E8A-4147-A177-3AD203B41FA5}">
                      <a16:colId xmlns:a16="http://schemas.microsoft.com/office/drawing/2014/main" val="1087638357"/>
                    </a:ext>
                  </a:extLst>
                </a:gridCol>
                <a:gridCol w="759763">
                  <a:extLst>
                    <a:ext uri="{9D8B030D-6E8A-4147-A177-3AD203B41FA5}">
                      <a16:colId xmlns:a16="http://schemas.microsoft.com/office/drawing/2014/main" val="729575497"/>
                    </a:ext>
                  </a:extLst>
                </a:gridCol>
              </a:tblGrid>
              <a:tr h="355187">
                <a:tc>
                  <a:txBody>
                    <a:bodyPr/>
                    <a:lstStyle/>
                    <a:p>
                      <a:pPr algn="ctr">
                        <a:buNone/>
                      </a:pPr>
                      <a:r>
                        <a:rPr lang="en-US" sz="1400" b="1" dirty="0">
                          <a:solidFill>
                            <a:srgbClr val="287170"/>
                          </a:solidFill>
                        </a:rPr>
                        <a:t>AI Features</a:t>
                      </a:r>
                      <a:endParaRPr lang="en-US" sz="1400" dirty="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EndoFlow</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Pearl AI</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Overjet</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VideaHealth</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Chairsyde AI</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CareStack AI</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Dental Intelligence</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Oryx AI</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a:solidFill>
                            <a:srgbClr val="287170"/>
                          </a:solidFill>
                        </a:rPr>
                        <a:t>SmileCloud AI</a:t>
                      </a:r>
                      <a:endParaRPr lang="en-US" sz="14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400" b="1" dirty="0">
                          <a:solidFill>
                            <a:srgbClr val="287170"/>
                          </a:solidFill>
                        </a:rPr>
                        <a:t>Curve AI</a:t>
                      </a:r>
                      <a:endParaRPr lang="en-US" sz="1400" dirty="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783235858"/>
                  </a:ext>
                </a:extLst>
              </a:tr>
              <a:tr h="461741">
                <a:tc>
                  <a:txBody>
                    <a:bodyPr/>
                    <a:lstStyle/>
                    <a:p>
                      <a:pPr>
                        <a:buNone/>
                      </a:pPr>
                      <a:r>
                        <a:rPr lang="en-US" sz="1400" dirty="0">
                          <a:solidFill>
                            <a:srgbClr val="287170"/>
                          </a:solidFill>
                        </a:rPr>
                        <a:t>Natural Language Processing (NLP)</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effectLst/>
                        </a:rPr>
                        <a:t>✓✓✓</a:t>
                      </a:r>
                      <a:endParaRPr lang="en-US" sz="1200" dirty="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2686866918"/>
                  </a:ext>
                </a:extLst>
              </a:tr>
              <a:tr h="473667">
                <a:tc>
                  <a:txBody>
                    <a:bodyPr/>
                    <a:lstStyle/>
                    <a:p>
                      <a:pPr>
                        <a:buNone/>
                      </a:pPr>
                      <a:r>
                        <a:rPr lang="en-US" sz="1400" dirty="0">
                          <a:solidFill>
                            <a:srgbClr val="287170"/>
                          </a:solidFill>
                        </a:rPr>
                        <a:t>Computer Vision &amp; Image Analysis</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effectLst/>
                        </a:rPr>
                        <a:t>✓✓✓</a:t>
                      </a:r>
                      <a:endParaRPr lang="en-US" sz="1200" dirty="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638154264"/>
                  </a:ext>
                </a:extLst>
              </a:tr>
              <a:tr h="375313">
                <a:tc>
                  <a:txBody>
                    <a:bodyPr/>
                    <a:lstStyle/>
                    <a:p>
                      <a:pPr>
                        <a:buNone/>
                      </a:pPr>
                      <a:r>
                        <a:rPr lang="en-US" sz="1400" dirty="0">
                          <a:solidFill>
                            <a:srgbClr val="287170"/>
                          </a:solidFill>
                        </a:rPr>
                        <a:t>Predictive Analytics</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288436086"/>
                  </a:ext>
                </a:extLst>
              </a:tr>
              <a:tr h="477672">
                <a:tc>
                  <a:txBody>
                    <a:bodyPr/>
                    <a:lstStyle/>
                    <a:p>
                      <a:pPr>
                        <a:buNone/>
                      </a:pPr>
                      <a:r>
                        <a:rPr lang="en-US" sz="1400" dirty="0">
                          <a:solidFill>
                            <a:srgbClr val="287170"/>
                          </a:solidFill>
                        </a:rPr>
                        <a:t>Machine Learning Algorithms</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3138019499"/>
                  </a:ext>
                </a:extLst>
              </a:tr>
              <a:tr h="436728">
                <a:tc>
                  <a:txBody>
                    <a:bodyPr/>
                    <a:lstStyle/>
                    <a:p>
                      <a:pPr>
                        <a:buNone/>
                      </a:pPr>
                      <a:r>
                        <a:rPr lang="en-US" sz="1400">
                          <a:solidFill>
                            <a:srgbClr val="287170"/>
                          </a:solidFill>
                        </a:rPr>
                        <a:t>Real-time Decision Support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226139230"/>
                  </a:ext>
                </a:extLst>
              </a:tr>
              <a:tr h="461741">
                <a:tc>
                  <a:txBody>
                    <a:bodyPr/>
                    <a:lstStyle/>
                    <a:p>
                      <a:pPr>
                        <a:buNone/>
                      </a:pPr>
                      <a:r>
                        <a:rPr lang="en-US" sz="1400">
                          <a:solidFill>
                            <a:srgbClr val="287170"/>
                          </a:solidFill>
                        </a:rPr>
                        <a:t>Evidence-based Recommendations</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3646898822"/>
                  </a:ext>
                </a:extLst>
              </a:tr>
              <a:tr h="459483">
                <a:tc>
                  <a:txBody>
                    <a:bodyPr/>
                    <a:lstStyle/>
                    <a:p>
                      <a:pPr>
                        <a:buNone/>
                      </a:pPr>
                      <a:r>
                        <a:rPr lang="en-US" sz="1400">
                          <a:solidFill>
                            <a:srgbClr val="287170"/>
                          </a:solidFill>
                        </a:rPr>
                        <a:t>Voice Recognition &amp; Transcription</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1184157743"/>
                  </a:ext>
                </a:extLst>
              </a:tr>
              <a:tr h="395785">
                <a:tc>
                  <a:txBody>
                    <a:bodyPr/>
                    <a:lstStyle/>
                    <a:p>
                      <a:pPr>
                        <a:buNone/>
                      </a:pPr>
                      <a:r>
                        <a:rPr lang="en-US" sz="1400">
                          <a:solidFill>
                            <a:srgbClr val="287170"/>
                          </a:solidFill>
                        </a:rPr>
                        <a:t>Automated Documentation</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3285373426"/>
                  </a:ext>
                </a:extLst>
              </a:tr>
              <a:tr h="395785">
                <a:tc>
                  <a:txBody>
                    <a:bodyPr/>
                    <a:lstStyle/>
                    <a:p>
                      <a:pPr>
                        <a:buNone/>
                      </a:pPr>
                      <a:r>
                        <a:rPr lang="en-US" sz="1400">
                          <a:solidFill>
                            <a:srgbClr val="287170"/>
                          </a:solidFill>
                        </a:rPr>
                        <a:t>Pattern Recognition</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2253897981"/>
                  </a:ext>
                </a:extLst>
              </a:tr>
              <a:tr h="402609">
                <a:tc>
                  <a:txBody>
                    <a:bodyPr/>
                    <a:lstStyle/>
                    <a:p>
                      <a:pPr>
                        <a:buNone/>
                      </a:pPr>
                      <a:r>
                        <a:rPr lang="en-US" sz="1400">
                          <a:solidFill>
                            <a:srgbClr val="287170"/>
                          </a:solidFill>
                        </a:rPr>
                        <a:t>Clinical Data Mining</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3002249194"/>
                  </a:ext>
                </a:extLst>
              </a:tr>
              <a:tr h="436729">
                <a:tc>
                  <a:txBody>
                    <a:bodyPr/>
                    <a:lstStyle/>
                    <a:p>
                      <a:pPr>
                        <a:buNone/>
                      </a:pPr>
                      <a:r>
                        <a:rPr lang="en-US" sz="1400">
                          <a:solidFill>
                            <a:srgbClr val="287170"/>
                          </a:solidFill>
                        </a:rPr>
                        <a:t>Workflow Automation</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3793261915"/>
                  </a:ext>
                </a:extLst>
              </a:tr>
              <a:tr h="416256">
                <a:tc>
                  <a:txBody>
                    <a:bodyPr/>
                    <a:lstStyle/>
                    <a:p>
                      <a:pPr>
                        <a:buNone/>
                      </a:pPr>
                      <a:r>
                        <a:rPr lang="en-US" sz="1400" dirty="0">
                          <a:solidFill>
                            <a:srgbClr val="287170"/>
                          </a:solidFill>
                        </a:rPr>
                        <a:t>Continuous Learning</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2649388455"/>
                  </a:ext>
                </a:extLst>
              </a:tr>
              <a:tr h="450376">
                <a:tc>
                  <a:txBody>
                    <a:bodyPr/>
                    <a:lstStyle/>
                    <a:p>
                      <a:pPr>
                        <a:buNone/>
                      </a:pPr>
                      <a:r>
                        <a:rPr lang="en-US" sz="1400">
                          <a:solidFill>
                            <a:srgbClr val="287170"/>
                          </a:solidFill>
                        </a:rPr>
                        <a:t>Multi-modal AI Integration</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1405088901"/>
                  </a:ext>
                </a:extLst>
              </a:tr>
              <a:tr h="423081">
                <a:tc>
                  <a:txBody>
                    <a:bodyPr/>
                    <a:lstStyle/>
                    <a:p>
                      <a:pPr>
                        <a:buNone/>
                      </a:pPr>
                      <a:r>
                        <a:rPr lang="en-US" sz="1400" dirty="0">
                          <a:solidFill>
                            <a:srgbClr val="287170"/>
                          </a:solidFill>
                        </a:rPr>
                        <a:t>Research Database Integration (RAG)</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4E5E3"/>
                    </a:solidFill>
                  </a:tcPr>
                </a:tc>
                <a:extLst>
                  <a:ext uri="{0D108BD9-81ED-4DB2-BD59-A6C34878D82A}">
                    <a16:rowId xmlns:a16="http://schemas.microsoft.com/office/drawing/2014/main" val="3654152401"/>
                  </a:ext>
                </a:extLst>
              </a:tr>
              <a:tr h="568296">
                <a:tc>
                  <a:txBody>
                    <a:bodyPr/>
                    <a:lstStyle/>
                    <a:p>
                      <a:pPr>
                        <a:buNone/>
                      </a:pPr>
                      <a:r>
                        <a:rPr lang="en-US" sz="1400" dirty="0">
                          <a:solidFill>
                            <a:srgbClr val="287170"/>
                          </a:solidFill>
                        </a:rPr>
                        <a:t>Personalized Treatment Suggestions</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effectLst/>
                        </a:rPr>
                        <a:t>✓✓✓</a:t>
                      </a:r>
                      <a:endParaRPr lang="en-US" sz="1200">
                        <a:solidFill>
                          <a:srgbClr val="287170"/>
                        </a:solidFill>
                      </a:endParaRP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tc>
                  <a:txBody>
                    <a:bodyPr/>
                    <a:lstStyle/>
                    <a:p>
                      <a:pPr algn="ctr">
                        <a:buNone/>
                      </a:pPr>
                      <a:r>
                        <a:rPr lang="en-US" sz="1200" dirty="0">
                          <a:solidFill>
                            <a:srgbClr val="287170"/>
                          </a:solidFill>
                        </a:rPr>
                        <a:t>✗</a:t>
                      </a:r>
                    </a:p>
                  </a:txBody>
                  <a:tcPr marL="27480" marR="27480" marT="13740" marB="1374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DFBFE"/>
                    </a:solidFill>
                  </a:tcPr>
                </a:tc>
                <a:extLst>
                  <a:ext uri="{0D108BD9-81ED-4DB2-BD59-A6C34878D82A}">
                    <a16:rowId xmlns:a16="http://schemas.microsoft.com/office/drawing/2014/main" val="1981604794"/>
                  </a:ext>
                </a:extLst>
              </a:tr>
            </a:tbl>
          </a:graphicData>
        </a:graphic>
      </p:graphicFrame>
      <p:sp>
        <p:nvSpPr>
          <p:cNvPr id="4" name="Text 0">
            <a:extLst>
              <a:ext uri="{FF2B5EF4-FFF2-40B4-BE49-F238E27FC236}">
                <a16:creationId xmlns:a16="http://schemas.microsoft.com/office/drawing/2014/main" id="{AA584656-14DC-24A4-0A51-EF5FA29C0C2B}"/>
              </a:ext>
            </a:extLst>
          </p:cNvPr>
          <p:cNvSpPr/>
          <p:nvPr/>
        </p:nvSpPr>
        <p:spPr>
          <a:xfrm>
            <a:off x="471791" y="227856"/>
            <a:ext cx="11207353" cy="531614"/>
          </a:xfrm>
          <a:prstGeom prst="rect">
            <a:avLst/>
          </a:prstGeom>
          <a:noFill/>
          <a:ln/>
        </p:spPr>
        <p:txBody>
          <a:bodyPr wrap="none" lIns="0" tIns="0" rIns="0" bIns="0" rtlCol="0" anchor="t"/>
          <a:lstStyle/>
          <a:p>
            <a:pPr marL="0" indent="0" algn="l">
              <a:lnSpc>
                <a:spcPts val="4150"/>
              </a:lnSpc>
              <a:buNone/>
            </a:pPr>
            <a:r>
              <a:rPr lang="en-US" sz="3300" b="1" dirty="0">
                <a:solidFill>
                  <a:srgbClr val="03978F"/>
                </a:solidFill>
                <a:latin typeface="Roboto Slab Bold" pitchFamily="34" charset="0"/>
                <a:ea typeface="Roboto Slab Bold" pitchFamily="34" charset="-122"/>
                <a:cs typeface="Roboto Slab Bold" pitchFamily="34" charset="-120"/>
              </a:rPr>
              <a:t>EndoFlow's Holistic AI Approach vs. Niche Competitors</a:t>
            </a:r>
            <a:endParaRPr lang="en-US" sz="3300" dirty="0"/>
          </a:p>
        </p:txBody>
      </p:sp>
    </p:spTree>
    <p:extLst>
      <p:ext uri="{BB962C8B-B14F-4D97-AF65-F5344CB8AC3E}">
        <p14:creationId xmlns:p14="http://schemas.microsoft.com/office/powerpoint/2010/main" val="30360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804387"/>
            <a:ext cx="9476661" cy="361474"/>
          </a:xfrm>
          <a:prstGeom prst="rect">
            <a:avLst/>
          </a:prstGeom>
          <a:noFill/>
          <a:ln/>
        </p:spPr>
        <p:txBody>
          <a:bodyPr wrap="none" lIns="0" tIns="0" rIns="0" bIns="0" rtlCol="0" anchor="t"/>
          <a:lstStyle/>
          <a:p>
            <a:pPr marL="0" indent="0" algn="l">
              <a:lnSpc>
                <a:spcPts val="2800"/>
              </a:lnSpc>
              <a:buNone/>
            </a:pPr>
            <a:r>
              <a:rPr lang="en-US" sz="3200" b="1" dirty="0">
                <a:solidFill>
                  <a:srgbClr val="03978F"/>
                </a:solidFill>
                <a:latin typeface="Roboto Slab Bold" pitchFamily="34" charset="0"/>
                <a:ea typeface="Roboto Slab Bold" pitchFamily="34" charset="-122"/>
                <a:cs typeface="Roboto Slab Bold" pitchFamily="34" charset="-120"/>
              </a:rPr>
              <a:t>EndoFlow vs Current AI Dental Solutions: A Comprehensive Analysis</a:t>
            </a:r>
            <a:endParaRPr lang="en-US" sz="3200" dirty="0"/>
          </a:p>
        </p:txBody>
      </p:sp>
      <p:sp>
        <p:nvSpPr>
          <p:cNvPr id="3" name="Text 1"/>
          <p:cNvSpPr/>
          <p:nvPr/>
        </p:nvSpPr>
        <p:spPr>
          <a:xfrm>
            <a:off x="793790" y="1597462"/>
            <a:ext cx="13042821" cy="308372"/>
          </a:xfrm>
          <a:prstGeom prst="rect">
            <a:avLst/>
          </a:prstGeom>
          <a:noFill/>
          <a:ln/>
        </p:spPr>
        <p:txBody>
          <a:bodyPr wrap="non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Understanding how EndoFlow stands apart from existing AI tools is crucial for grasping its transformative potential in endodontic practice.</a:t>
            </a:r>
            <a:endParaRPr lang="en-US" sz="1500" dirty="0"/>
          </a:p>
        </p:txBody>
      </p:sp>
      <p:sp>
        <p:nvSpPr>
          <p:cNvPr id="4" name="Shape 2"/>
          <p:cNvSpPr/>
          <p:nvPr/>
        </p:nvSpPr>
        <p:spPr>
          <a:xfrm>
            <a:off x="793790" y="2122646"/>
            <a:ext cx="13042821" cy="5256371"/>
          </a:xfrm>
          <a:prstGeom prst="roundRect">
            <a:avLst>
              <a:gd name="adj" fmla="val 1541"/>
            </a:avLst>
          </a:prstGeom>
          <a:noFill/>
          <a:ln w="7620">
            <a:solidFill>
              <a:srgbClr val="000000">
                <a:alpha val="8000"/>
              </a:srgbClr>
            </a:solidFill>
            <a:prstDash val="solid"/>
          </a:ln>
        </p:spPr>
      </p:sp>
      <p:sp>
        <p:nvSpPr>
          <p:cNvPr id="5" name="Shape 3"/>
          <p:cNvSpPr/>
          <p:nvPr/>
        </p:nvSpPr>
        <p:spPr>
          <a:xfrm>
            <a:off x="801410" y="2130266"/>
            <a:ext cx="13027581" cy="1171575"/>
          </a:xfrm>
          <a:prstGeom prst="rect">
            <a:avLst/>
          </a:prstGeom>
          <a:solidFill>
            <a:srgbClr val="FFFFFF">
              <a:alpha val="4000"/>
            </a:srgbClr>
          </a:solidFill>
          <a:ln/>
        </p:spPr>
      </p:sp>
      <p:sp>
        <p:nvSpPr>
          <p:cNvPr id="6" name="Text 4"/>
          <p:cNvSpPr/>
          <p:nvPr/>
        </p:nvSpPr>
        <p:spPr>
          <a:xfrm>
            <a:off x="994410" y="2253496"/>
            <a:ext cx="2122289" cy="308372"/>
          </a:xfrm>
          <a:prstGeom prst="rect">
            <a:avLst/>
          </a:prstGeom>
          <a:noFill/>
          <a:ln/>
        </p:spPr>
        <p:txBody>
          <a:bodyPr wrap="non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Approach</a:t>
            </a:r>
            <a:endParaRPr lang="en-US" sz="1500" dirty="0"/>
          </a:p>
        </p:txBody>
      </p:sp>
      <p:sp>
        <p:nvSpPr>
          <p:cNvPr id="7" name="Text 5"/>
          <p:cNvSpPr/>
          <p:nvPr/>
        </p:nvSpPr>
        <p:spPr>
          <a:xfrm>
            <a:off x="3509843" y="2253496"/>
            <a:ext cx="4882991" cy="925116"/>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Integrated, end-to-end workflow automation and decision support across the entire clinical and administrative process</a:t>
            </a:r>
            <a:endParaRPr lang="en-US" sz="1500" dirty="0"/>
          </a:p>
        </p:txBody>
      </p:sp>
      <p:sp>
        <p:nvSpPr>
          <p:cNvPr id="8" name="Text 6"/>
          <p:cNvSpPr/>
          <p:nvPr/>
        </p:nvSpPr>
        <p:spPr>
          <a:xfrm>
            <a:off x="8785979" y="2253496"/>
            <a:ext cx="4850249" cy="616744"/>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Fragmented, point solutions for specific tasks (e.g., diagnosis, imaging analysis)</a:t>
            </a:r>
            <a:endParaRPr lang="en-US" sz="1500" dirty="0"/>
          </a:p>
        </p:txBody>
      </p:sp>
      <p:sp>
        <p:nvSpPr>
          <p:cNvPr id="9" name="Shape 7"/>
          <p:cNvSpPr/>
          <p:nvPr/>
        </p:nvSpPr>
        <p:spPr>
          <a:xfrm>
            <a:off x="801410" y="3301841"/>
            <a:ext cx="13027581" cy="1171575"/>
          </a:xfrm>
          <a:prstGeom prst="rect">
            <a:avLst/>
          </a:prstGeom>
          <a:solidFill>
            <a:srgbClr val="000000">
              <a:alpha val="4000"/>
            </a:srgbClr>
          </a:solidFill>
          <a:ln/>
        </p:spPr>
      </p:sp>
      <p:sp>
        <p:nvSpPr>
          <p:cNvPr id="10" name="Text 8"/>
          <p:cNvSpPr/>
          <p:nvPr/>
        </p:nvSpPr>
        <p:spPr>
          <a:xfrm>
            <a:off x="994410" y="3425071"/>
            <a:ext cx="2122289" cy="308372"/>
          </a:xfrm>
          <a:prstGeom prst="rect">
            <a:avLst/>
          </a:prstGeom>
          <a:noFill/>
          <a:ln/>
        </p:spPr>
        <p:txBody>
          <a:bodyPr wrap="non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AI Technology</a:t>
            </a:r>
            <a:endParaRPr lang="en-US" sz="1500" dirty="0"/>
          </a:p>
        </p:txBody>
      </p:sp>
      <p:sp>
        <p:nvSpPr>
          <p:cNvPr id="11" name="Text 9"/>
          <p:cNvSpPr/>
          <p:nvPr/>
        </p:nvSpPr>
        <p:spPr>
          <a:xfrm>
            <a:off x="3509843" y="3425071"/>
            <a:ext cx="4882991" cy="925116"/>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RAG (Retrieval Augmented Generation) powered AI, dynamic, continuous learning from all practice data and internal research</a:t>
            </a:r>
            <a:endParaRPr lang="en-US" sz="1500" dirty="0"/>
          </a:p>
        </p:txBody>
      </p:sp>
      <p:sp>
        <p:nvSpPr>
          <p:cNvPr id="12" name="Text 10"/>
          <p:cNvSpPr/>
          <p:nvPr/>
        </p:nvSpPr>
        <p:spPr>
          <a:xfrm>
            <a:off x="8785979" y="3425071"/>
            <a:ext cx="4850249" cy="616744"/>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Static algorithms, rule-based systems; limited learning from practice-specific data</a:t>
            </a:r>
            <a:endParaRPr lang="en-US" sz="1500" dirty="0"/>
          </a:p>
        </p:txBody>
      </p:sp>
      <p:sp>
        <p:nvSpPr>
          <p:cNvPr id="13" name="Shape 11"/>
          <p:cNvSpPr/>
          <p:nvPr/>
        </p:nvSpPr>
        <p:spPr>
          <a:xfrm>
            <a:off x="801410" y="4473416"/>
            <a:ext cx="13027581" cy="1171575"/>
          </a:xfrm>
          <a:prstGeom prst="rect">
            <a:avLst/>
          </a:prstGeom>
          <a:solidFill>
            <a:srgbClr val="FFFFFF">
              <a:alpha val="4000"/>
            </a:srgbClr>
          </a:solidFill>
          <a:ln/>
        </p:spPr>
      </p:sp>
      <p:sp>
        <p:nvSpPr>
          <p:cNvPr id="14" name="Text 12"/>
          <p:cNvSpPr/>
          <p:nvPr/>
        </p:nvSpPr>
        <p:spPr>
          <a:xfrm>
            <a:off x="994410" y="4596646"/>
            <a:ext cx="2122289" cy="308372"/>
          </a:xfrm>
          <a:prstGeom prst="rect">
            <a:avLst/>
          </a:prstGeom>
          <a:noFill/>
          <a:ln/>
        </p:spPr>
        <p:txBody>
          <a:bodyPr wrap="non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Data Utilization</a:t>
            </a:r>
            <a:endParaRPr lang="en-US" sz="1500" dirty="0"/>
          </a:p>
        </p:txBody>
      </p:sp>
      <p:sp>
        <p:nvSpPr>
          <p:cNvPr id="15" name="Text 13"/>
          <p:cNvSpPr/>
          <p:nvPr/>
        </p:nvSpPr>
        <p:spPr>
          <a:xfrm>
            <a:off x="3509843" y="4596646"/>
            <a:ext cx="4882991" cy="925116"/>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Aggregates and analyzes all structured and unstructured practice data (clinical, financial, research) for actionable insights</a:t>
            </a:r>
            <a:endParaRPr lang="en-US" sz="1500" dirty="0"/>
          </a:p>
        </p:txBody>
      </p:sp>
      <p:sp>
        <p:nvSpPr>
          <p:cNvPr id="16" name="Text 14"/>
          <p:cNvSpPr/>
          <p:nvPr/>
        </p:nvSpPr>
        <p:spPr>
          <a:xfrm>
            <a:off x="8785979" y="4596646"/>
            <a:ext cx="4850249" cy="616744"/>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Limited to specific data types (e.g., radiographic images), siloed data processing</a:t>
            </a:r>
            <a:endParaRPr lang="en-US" sz="1500" dirty="0"/>
          </a:p>
        </p:txBody>
      </p:sp>
      <p:sp>
        <p:nvSpPr>
          <p:cNvPr id="17" name="Shape 15"/>
          <p:cNvSpPr/>
          <p:nvPr/>
        </p:nvSpPr>
        <p:spPr>
          <a:xfrm>
            <a:off x="801410" y="5644991"/>
            <a:ext cx="13027581" cy="863203"/>
          </a:xfrm>
          <a:prstGeom prst="rect">
            <a:avLst/>
          </a:prstGeom>
          <a:solidFill>
            <a:srgbClr val="000000">
              <a:alpha val="4000"/>
            </a:srgbClr>
          </a:solidFill>
          <a:ln/>
        </p:spPr>
      </p:sp>
      <p:sp>
        <p:nvSpPr>
          <p:cNvPr id="18" name="Text 16"/>
          <p:cNvSpPr/>
          <p:nvPr/>
        </p:nvSpPr>
        <p:spPr>
          <a:xfrm>
            <a:off x="994410" y="5768221"/>
            <a:ext cx="2122289" cy="308372"/>
          </a:xfrm>
          <a:prstGeom prst="rect">
            <a:avLst/>
          </a:prstGeom>
          <a:noFill/>
          <a:ln/>
        </p:spPr>
        <p:txBody>
          <a:bodyPr wrap="non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Workflow Automation</a:t>
            </a:r>
            <a:endParaRPr lang="en-US" sz="1500" dirty="0"/>
          </a:p>
        </p:txBody>
      </p:sp>
      <p:sp>
        <p:nvSpPr>
          <p:cNvPr id="19" name="Text 17"/>
          <p:cNvSpPr/>
          <p:nvPr/>
        </p:nvSpPr>
        <p:spPr>
          <a:xfrm>
            <a:off x="3509843" y="5768221"/>
            <a:ext cx="4882991" cy="616744"/>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No-code, comprehensive workflow automation, minimizing manual input and optimizing efficiency</a:t>
            </a:r>
            <a:endParaRPr lang="en-US" sz="1500" dirty="0"/>
          </a:p>
        </p:txBody>
      </p:sp>
      <p:sp>
        <p:nvSpPr>
          <p:cNvPr id="20" name="Text 18"/>
          <p:cNvSpPr/>
          <p:nvPr/>
        </p:nvSpPr>
        <p:spPr>
          <a:xfrm>
            <a:off x="8785979" y="5768221"/>
            <a:ext cx="4850249" cy="308372"/>
          </a:xfrm>
          <a:prstGeom prst="rect">
            <a:avLst/>
          </a:prstGeom>
          <a:noFill/>
          <a:ln/>
        </p:spPr>
        <p:txBody>
          <a:bodyPr wrap="non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Manual or partial automation of isolated tasks</a:t>
            </a:r>
            <a:endParaRPr lang="en-US" sz="1500" dirty="0"/>
          </a:p>
        </p:txBody>
      </p:sp>
      <p:sp>
        <p:nvSpPr>
          <p:cNvPr id="21" name="Shape 19"/>
          <p:cNvSpPr/>
          <p:nvPr/>
        </p:nvSpPr>
        <p:spPr>
          <a:xfrm>
            <a:off x="801410" y="6508194"/>
            <a:ext cx="13027581" cy="863203"/>
          </a:xfrm>
          <a:prstGeom prst="rect">
            <a:avLst/>
          </a:prstGeom>
          <a:solidFill>
            <a:srgbClr val="FFFFFF">
              <a:alpha val="4000"/>
            </a:srgbClr>
          </a:solidFill>
          <a:ln/>
        </p:spPr>
      </p:sp>
      <p:sp>
        <p:nvSpPr>
          <p:cNvPr id="22" name="Text 20"/>
          <p:cNvSpPr/>
          <p:nvPr/>
        </p:nvSpPr>
        <p:spPr>
          <a:xfrm>
            <a:off x="994410" y="6631424"/>
            <a:ext cx="2122289" cy="308372"/>
          </a:xfrm>
          <a:prstGeom prst="rect">
            <a:avLst/>
          </a:prstGeom>
          <a:noFill/>
          <a:ln/>
        </p:spPr>
        <p:txBody>
          <a:bodyPr wrap="non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Adaptability</a:t>
            </a:r>
            <a:endParaRPr lang="en-US" sz="1500" dirty="0"/>
          </a:p>
        </p:txBody>
      </p:sp>
      <p:sp>
        <p:nvSpPr>
          <p:cNvPr id="23" name="Text 21"/>
          <p:cNvSpPr/>
          <p:nvPr/>
        </p:nvSpPr>
        <p:spPr>
          <a:xfrm>
            <a:off x="3509843" y="6631424"/>
            <a:ext cx="4882991" cy="616744"/>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Flexible, adapts to new evidence and learns from individual practice outcomes to refine recommendations</a:t>
            </a:r>
            <a:endParaRPr lang="en-US" sz="1500" dirty="0"/>
          </a:p>
        </p:txBody>
      </p:sp>
      <p:sp>
        <p:nvSpPr>
          <p:cNvPr id="24" name="Text 22"/>
          <p:cNvSpPr/>
          <p:nvPr/>
        </p:nvSpPr>
        <p:spPr>
          <a:xfrm>
            <a:off x="8785979" y="6631424"/>
            <a:ext cx="4850249" cy="616744"/>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Rigid, slow to adapt to new research or evolving clinical standards</a:t>
            </a:r>
            <a:endParaRPr lang="en-US"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34475" y="0"/>
            <a:ext cx="5486400" cy="8229600"/>
          </a:xfrm>
          <a:prstGeom prst="rect">
            <a:avLst/>
          </a:prstGeom>
        </p:spPr>
      </p:pic>
      <p:sp>
        <p:nvSpPr>
          <p:cNvPr id="3" name="Text 0"/>
          <p:cNvSpPr/>
          <p:nvPr/>
        </p:nvSpPr>
        <p:spPr>
          <a:xfrm>
            <a:off x="793790" y="1801177"/>
            <a:ext cx="7556421" cy="1133951"/>
          </a:xfrm>
          <a:prstGeom prst="rect">
            <a:avLst/>
          </a:prstGeom>
          <a:noFill/>
          <a:ln/>
        </p:spPr>
        <p:txBody>
          <a:bodyPr wrap="square" lIns="0" tIns="0" rIns="0" bIns="0" rtlCol="0" anchor="t"/>
          <a:lstStyle/>
          <a:p>
            <a:pPr marL="0" indent="0" algn="l">
              <a:lnSpc>
                <a:spcPts val="4450"/>
              </a:lnSpc>
              <a:buNone/>
            </a:pPr>
            <a:r>
              <a:rPr lang="en-US" sz="3550" b="1" dirty="0">
                <a:solidFill>
                  <a:srgbClr val="03978F"/>
                </a:solidFill>
                <a:latin typeface="Roboto Slab Bold" pitchFamily="34" charset="0"/>
                <a:ea typeface="Roboto Slab Bold" pitchFamily="34" charset="-122"/>
                <a:cs typeface="Roboto Slab Bold" pitchFamily="34" charset="-120"/>
              </a:rPr>
              <a:t>EndoFlow: Charting the Course to Endodontic Excellence</a:t>
            </a:r>
            <a:endParaRPr lang="en-US" sz="3550" dirty="0"/>
          </a:p>
        </p:txBody>
      </p:sp>
      <p:pic>
        <p:nvPicPr>
          <p:cNvPr id="4" name="Image 1" descr="preencoded.png"/>
          <p:cNvPicPr>
            <a:picLocks noChangeAspect="1"/>
          </p:cNvPicPr>
          <p:nvPr/>
        </p:nvPicPr>
        <p:blipFill>
          <a:blip r:embed="rId4"/>
          <a:stretch>
            <a:fillRect/>
          </a:stretch>
        </p:blipFill>
        <p:spPr>
          <a:xfrm>
            <a:off x="793790" y="3275290"/>
            <a:ext cx="7556421" cy="3153132"/>
          </a:xfrm>
          <a:prstGeom prst="rect">
            <a:avLst/>
          </a:prstGeom>
        </p:spPr>
      </p:pic>
      <p:pic>
        <p:nvPicPr>
          <p:cNvPr id="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27871" y="4932056"/>
            <a:ext cx="282771" cy="282771"/>
          </a:xfrm>
          <a:prstGeom prst="rect">
            <a:avLst/>
          </a:prstGeom>
        </p:spPr>
      </p:pic>
      <p:sp>
        <p:nvSpPr>
          <p:cNvPr id="6" name="Text 1"/>
          <p:cNvSpPr/>
          <p:nvPr/>
        </p:nvSpPr>
        <p:spPr>
          <a:xfrm>
            <a:off x="5225233" y="3420604"/>
            <a:ext cx="2019962" cy="214763"/>
          </a:xfrm>
          <a:prstGeom prst="rect">
            <a:avLst/>
          </a:prstGeom>
          <a:noFill/>
          <a:ln/>
        </p:spPr>
        <p:txBody>
          <a:bodyPr wrap="none" lIns="0" tIns="0" rIns="0" bIns="0" rtlCol="0" anchor="t"/>
          <a:lstStyle/>
          <a:p>
            <a:pPr marL="0" indent="0" algn="l">
              <a:lnSpc>
                <a:spcPts val="1650"/>
              </a:lnSpc>
              <a:buNone/>
            </a:pPr>
            <a:r>
              <a:rPr lang="en-US" sz="1350" b="1" dirty="0">
                <a:solidFill>
                  <a:srgbClr val="03978F"/>
                </a:solidFill>
                <a:latin typeface="Roboto Slab Bold" pitchFamily="34" charset="0"/>
                <a:ea typeface="Roboto Slab Bold" pitchFamily="34" charset="-122"/>
                <a:cs typeface="Roboto Slab Bold" pitchFamily="34" charset="-120"/>
              </a:rPr>
              <a:t>Truly Integrated AI Suite</a:t>
            </a:r>
            <a:endParaRPr lang="en-US" sz="1350" dirty="0"/>
          </a:p>
        </p:txBody>
      </p:sp>
      <p:sp>
        <p:nvSpPr>
          <p:cNvPr id="7" name="Text 2"/>
          <p:cNvSpPr/>
          <p:nvPr/>
        </p:nvSpPr>
        <p:spPr>
          <a:xfrm>
            <a:off x="5225233" y="3696454"/>
            <a:ext cx="2945113" cy="687241"/>
          </a:xfrm>
          <a:prstGeom prst="rect">
            <a:avLst/>
          </a:prstGeom>
          <a:noFill/>
          <a:ln/>
        </p:spPr>
        <p:txBody>
          <a:bodyPr wrap="square" lIns="0" tIns="0" rIns="0" bIns="0" rtlCol="0" anchor="t"/>
          <a:lstStyle/>
          <a:p>
            <a:pPr marL="0" indent="0" algn="l">
              <a:lnSpc>
                <a:spcPts val="1350"/>
              </a:lnSpc>
              <a:buNone/>
            </a:pPr>
            <a:r>
              <a:rPr lang="en-US" sz="1050" dirty="0">
                <a:solidFill>
                  <a:srgbClr val="287170"/>
                </a:solidFill>
                <a:latin typeface="Roboto" pitchFamily="34" charset="0"/>
                <a:ea typeface="Roboto" pitchFamily="34" charset="-122"/>
                <a:cs typeface="Roboto" pitchFamily="34" charset="-120"/>
              </a:rPr>
              <a:t>Five-pillar AI engine woven into the three-dashboard ecosystem creates synergistic effects that fragmented solutions cannot replicate.</a:t>
            </a:r>
            <a:endParaRPr lang="en-US" sz="1050" dirty="0"/>
          </a:p>
        </p:txBody>
      </p:sp>
      <p:pic>
        <p:nvPicPr>
          <p:cNvPr id="8"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21283" y="4932056"/>
            <a:ext cx="282771" cy="282771"/>
          </a:xfrm>
          <a:prstGeom prst="rect">
            <a:avLst/>
          </a:prstGeom>
        </p:spPr>
      </p:pic>
      <p:sp>
        <p:nvSpPr>
          <p:cNvPr id="9" name="Text 3"/>
          <p:cNvSpPr/>
          <p:nvPr/>
        </p:nvSpPr>
        <p:spPr>
          <a:xfrm>
            <a:off x="5225352" y="4446692"/>
            <a:ext cx="2945113" cy="429525"/>
          </a:xfrm>
          <a:prstGeom prst="rect">
            <a:avLst/>
          </a:prstGeom>
          <a:noFill/>
          <a:ln/>
        </p:spPr>
        <p:txBody>
          <a:bodyPr wrap="square" lIns="0" tIns="0" rIns="0" bIns="0" rtlCol="0" anchor="t"/>
          <a:lstStyle/>
          <a:p>
            <a:pPr marL="0" indent="0" algn="l">
              <a:lnSpc>
                <a:spcPts val="1650"/>
              </a:lnSpc>
              <a:buNone/>
            </a:pPr>
            <a:r>
              <a:rPr lang="en-US" sz="1350" b="1" dirty="0">
                <a:solidFill>
                  <a:srgbClr val="03978F"/>
                </a:solidFill>
                <a:latin typeface="Roboto Slab Bold" pitchFamily="34" charset="0"/>
                <a:ea typeface="Roboto Slab Bold" pitchFamily="34" charset="-122"/>
                <a:cs typeface="Roboto Slab Bold" pitchFamily="34" charset="-120"/>
              </a:rPr>
              <a:t>RAG Evidence Engine for learning and diagnose</a:t>
            </a:r>
            <a:endParaRPr lang="en-US" sz="1350" dirty="0"/>
          </a:p>
        </p:txBody>
      </p:sp>
      <p:sp>
        <p:nvSpPr>
          <p:cNvPr id="10" name="Text 4"/>
          <p:cNvSpPr/>
          <p:nvPr/>
        </p:nvSpPr>
        <p:spPr>
          <a:xfrm>
            <a:off x="5225352" y="4937306"/>
            <a:ext cx="2945113" cy="343620"/>
          </a:xfrm>
          <a:prstGeom prst="rect">
            <a:avLst/>
          </a:prstGeom>
          <a:noFill/>
          <a:ln/>
        </p:spPr>
        <p:txBody>
          <a:bodyPr wrap="square" lIns="0" tIns="0" rIns="0" bIns="0" rtlCol="0" anchor="t"/>
          <a:lstStyle/>
          <a:p>
            <a:pPr marL="0" indent="0" algn="l">
              <a:lnSpc>
                <a:spcPts val="1350"/>
              </a:lnSpc>
              <a:buNone/>
            </a:pPr>
            <a:r>
              <a:rPr lang="en-US" sz="1050" dirty="0">
                <a:solidFill>
                  <a:srgbClr val="287170"/>
                </a:solidFill>
                <a:latin typeface="Roboto" pitchFamily="34" charset="0"/>
                <a:ea typeface="Roboto" pitchFamily="34" charset="-122"/>
                <a:cs typeface="Roboto" pitchFamily="34" charset="-120"/>
              </a:rPr>
              <a:t>Retrieval Augmented Generation for fact-based teaching and diagnosingP.</a:t>
            </a:r>
            <a:endParaRPr lang="en-US" sz="1050" dirty="0"/>
          </a:p>
        </p:txBody>
      </p:sp>
      <p:pic>
        <p:nvPicPr>
          <p:cNvPr id="11"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07060" y="4932056"/>
            <a:ext cx="282771" cy="282771"/>
          </a:xfrm>
          <a:prstGeom prst="rect">
            <a:avLst/>
          </a:prstGeom>
        </p:spPr>
      </p:pic>
      <p:sp>
        <p:nvSpPr>
          <p:cNvPr id="12" name="Text 5"/>
          <p:cNvSpPr/>
          <p:nvPr/>
        </p:nvSpPr>
        <p:spPr>
          <a:xfrm>
            <a:off x="5225352" y="5505114"/>
            <a:ext cx="2449250" cy="214763"/>
          </a:xfrm>
          <a:prstGeom prst="rect">
            <a:avLst/>
          </a:prstGeom>
          <a:noFill/>
          <a:ln/>
        </p:spPr>
        <p:txBody>
          <a:bodyPr wrap="none" lIns="0" tIns="0" rIns="0" bIns="0" rtlCol="0" anchor="t"/>
          <a:lstStyle/>
          <a:p>
            <a:pPr marL="0" indent="0" algn="l">
              <a:lnSpc>
                <a:spcPts val="1650"/>
              </a:lnSpc>
              <a:buNone/>
            </a:pPr>
            <a:r>
              <a:rPr lang="en-US" sz="1350" b="1" dirty="0">
                <a:solidFill>
                  <a:srgbClr val="03978F"/>
                </a:solidFill>
                <a:latin typeface="Roboto Slab Bold" pitchFamily="34" charset="0"/>
                <a:ea typeface="Roboto Slab Bold" pitchFamily="34" charset="-122"/>
                <a:cs typeface="Roboto Slab Bold" pitchFamily="34" charset="-120"/>
              </a:rPr>
              <a:t>Practice as a Learning system</a:t>
            </a:r>
            <a:endParaRPr lang="en-US" sz="1350" dirty="0"/>
          </a:p>
        </p:txBody>
      </p:sp>
      <p:sp>
        <p:nvSpPr>
          <p:cNvPr id="13" name="Text 6"/>
          <p:cNvSpPr/>
          <p:nvPr/>
        </p:nvSpPr>
        <p:spPr>
          <a:xfrm>
            <a:off x="5225352" y="5780965"/>
            <a:ext cx="2945113" cy="859051"/>
          </a:xfrm>
          <a:prstGeom prst="rect">
            <a:avLst/>
          </a:prstGeom>
          <a:noFill/>
          <a:ln/>
        </p:spPr>
        <p:txBody>
          <a:bodyPr wrap="square" lIns="0" tIns="0" rIns="0" bIns="0" rtlCol="0" anchor="t"/>
          <a:lstStyle/>
          <a:p>
            <a:pPr marL="0" indent="0" algn="l">
              <a:lnSpc>
                <a:spcPts val="1350"/>
              </a:lnSpc>
              <a:buNone/>
            </a:pPr>
            <a:r>
              <a:rPr lang="en-US" sz="1050" dirty="0">
                <a:solidFill>
                  <a:srgbClr val="287170"/>
                </a:solidFill>
                <a:latin typeface="Roboto" pitchFamily="34" charset="0"/>
                <a:ea typeface="Roboto" pitchFamily="34" charset="-122"/>
                <a:cs typeface="Roboto" pitchFamily="34" charset="-120"/>
              </a:rPr>
              <a:t>Unique ability to turn practice data into queryable research database. Empowers internal audits, outcome comparisons, and practice-specific evidence generation for continuous improvement.</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15923"/>
            <a:ext cx="4217432" cy="354330"/>
          </a:xfrm>
          <a:prstGeom prst="rect">
            <a:avLst/>
          </a:prstGeom>
          <a:noFill/>
          <a:ln/>
        </p:spPr>
        <p:txBody>
          <a:bodyPr wrap="none" lIns="0" tIns="0" rIns="0" bIns="0" rtlCol="0" anchor="t"/>
          <a:lstStyle/>
          <a:p>
            <a:pPr marL="0" indent="0" algn="l">
              <a:lnSpc>
                <a:spcPts val="2750"/>
              </a:lnSpc>
              <a:buNone/>
            </a:pPr>
            <a:r>
              <a:rPr lang="en-US" sz="2200" b="1" dirty="0">
                <a:solidFill>
                  <a:srgbClr val="03978F"/>
                </a:solidFill>
                <a:latin typeface="Roboto Slab Bold" pitchFamily="34" charset="0"/>
                <a:ea typeface="Roboto Slab Bold" pitchFamily="34" charset="-122"/>
                <a:cs typeface="Roboto Slab Bold" pitchFamily="34" charset="-120"/>
              </a:rPr>
              <a:t>The New Economy of Dentistry</a:t>
            </a:r>
            <a:endParaRPr lang="en-US" sz="2200" dirty="0"/>
          </a:p>
        </p:txBody>
      </p:sp>
      <p:sp>
        <p:nvSpPr>
          <p:cNvPr id="4" name="Text 1"/>
          <p:cNvSpPr/>
          <p:nvPr/>
        </p:nvSpPr>
        <p:spPr>
          <a:xfrm>
            <a:off x="6280190" y="1160978"/>
            <a:ext cx="6822877" cy="708779"/>
          </a:xfrm>
          <a:prstGeom prst="rect">
            <a:avLst/>
          </a:prstGeom>
          <a:noFill/>
          <a:ln/>
        </p:spPr>
        <p:txBody>
          <a:bodyPr wrap="none" lIns="0" tIns="0" rIns="0" bIns="0" rtlCol="0" anchor="t"/>
          <a:lstStyle/>
          <a:p>
            <a:pPr marL="0" indent="0" algn="l">
              <a:lnSpc>
                <a:spcPts val="5550"/>
              </a:lnSpc>
              <a:buNone/>
            </a:pPr>
            <a:r>
              <a:rPr lang="en-US" sz="4450" b="1" dirty="0">
                <a:solidFill>
                  <a:srgbClr val="03978F"/>
                </a:solidFill>
                <a:latin typeface="Roboto Slab Bold" pitchFamily="34" charset="0"/>
                <a:ea typeface="Roboto Slab Bold" pitchFamily="34" charset="-122"/>
                <a:cs typeface="Roboto Slab Bold" pitchFamily="34" charset="-120"/>
              </a:rPr>
              <a:t>Time &amp; Data: The New Oil</a:t>
            </a:r>
            <a:endParaRPr lang="en-US" sz="4450" dirty="0"/>
          </a:p>
        </p:txBody>
      </p:sp>
      <p:sp>
        <p:nvSpPr>
          <p:cNvPr id="5" name="Shape 2"/>
          <p:cNvSpPr/>
          <p:nvPr/>
        </p:nvSpPr>
        <p:spPr>
          <a:xfrm>
            <a:off x="6280190" y="2209919"/>
            <a:ext cx="7556421" cy="2047994"/>
          </a:xfrm>
          <a:prstGeom prst="roundRect">
            <a:avLst>
              <a:gd name="adj" fmla="val 4652"/>
            </a:avLst>
          </a:prstGeom>
          <a:solidFill>
            <a:srgbClr val="CEFDFA"/>
          </a:solidFill>
          <a:ln w="7620">
            <a:solidFill>
              <a:srgbClr val="B4E3E0"/>
            </a:solidFill>
            <a:prstDash val="solid"/>
          </a:ln>
        </p:spPr>
      </p:sp>
      <p:sp>
        <p:nvSpPr>
          <p:cNvPr id="6" name="Text 3"/>
          <p:cNvSpPr/>
          <p:nvPr/>
        </p:nvSpPr>
        <p:spPr>
          <a:xfrm>
            <a:off x="6514624" y="244435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Time</a:t>
            </a:r>
            <a:endParaRPr lang="en-US" sz="2200" dirty="0"/>
          </a:p>
        </p:txBody>
      </p:sp>
      <p:sp>
        <p:nvSpPr>
          <p:cNvPr id="7" name="Text 4"/>
          <p:cNvSpPr/>
          <p:nvPr/>
        </p:nvSpPr>
        <p:spPr>
          <a:xfrm>
            <a:off x="6514624" y="2934772"/>
            <a:ext cx="7087553" cy="1088708"/>
          </a:xfrm>
          <a:prstGeom prst="rect">
            <a:avLst/>
          </a:prstGeom>
          <a:noFill/>
          <a:ln/>
        </p:spPr>
        <p:txBody>
          <a:bodyPr wrap="squar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The finite resource that dictates your capacity for care, your work-life balance, and your ability to maintain clinical excellence without burnout.</a:t>
            </a:r>
            <a:endParaRPr lang="en-US" sz="1750" dirty="0"/>
          </a:p>
        </p:txBody>
      </p:sp>
      <p:sp>
        <p:nvSpPr>
          <p:cNvPr id="8" name="Shape 5"/>
          <p:cNvSpPr/>
          <p:nvPr/>
        </p:nvSpPr>
        <p:spPr>
          <a:xfrm>
            <a:off x="6280190" y="4484727"/>
            <a:ext cx="7556421" cy="1685092"/>
          </a:xfrm>
          <a:prstGeom prst="roundRect">
            <a:avLst>
              <a:gd name="adj" fmla="val 5654"/>
            </a:avLst>
          </a:prstGeom>
          <a:solidFill>
            <a:srgbClr val="CEFDFA"/>
          </a:solidFill>
          <a:ln w="7620">
            <a:solidFill>
              <a:srgbClr val="B4E3E0"/>
            </a:solidFill>
            <a:prstDash val="solid"/>
          </a:ln>
        </p:spPr>
      </p:sp>
      <p:sp>
        <p:nvSpPr>
          <p:cNvPr id="9" name="Text 6"/>
          <p:cNvSpPr/>
          <p:nvPr/>
        </p:nvSpPr>
        <p:spPr>
          <a:xfrm>
            <a:off x="6514624" y="471916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87170"/>
                </a:solidFill>
                <a:latin typeface="Roboto Slab Bold" pitchFamily="34" charset="0"/>
                <a:ea typeface="Roboto Slab Bold" pitchFamily="34" charset="-122"/>
                <a:cs typeface="Roboto Slab Bold" pitchFamily="34" charset="-120"/>
              </a:rPr>
              <a:t>Data</a:t>
            </a:r>
            <a:endParaRPr lang="en-US" sz="2200" dirty="0"/>
          </a:p>
        </p:txBody>
      </p:sp>
      <p:sp>
        <p:nvSpPr>
          <p:cNvPr id="10" name="Text 7"/>
          <p:cNvSpPr/>
          <p:nvPr/>
        </p:nvSpPr>
        <p:spPr>
          <a:xfrm>
            <a:off x="6514624" y="5209580"/>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The raw material for clinical wisdom and operational intelligence—valuable only when it can be accessed, analysed, and acted upon.</a:t>
            </a:r>
            <a:endParaRPr lang="en-US" sz="1750" dirty="0"/>
          </a:p>
        </p:txBody>
      </p:sp>
      <p:sp>
        <p:nvSpPr>
          <p:cNvPr id="11" name="Text 8"/>
          <p:cNvSpPr/>
          <p:nvPr/>
        </p:nvSpPr>
        <p:spPr>
          <a:xfrm>
            <a:off x="6280190" y="6424970"/>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87170"/>
                </a:solidFill>
                <a:latin typeface="Roboto" pitchFamily="34" charset="0"/>
                <a:ea typeface="Roboto" pitchFamily="34" charset="-122"/>
                <a:cs typeface="Roboto" pitchFamily="34" charset="-120"/>
              </a:rPr>
              <a:t>These two assets will define the success of future dental practices. With EndoFlow, you can command both—reclaiming precious hours whilst unlocking the strategic insights hidden within your practice data.</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69658"/>
            <a:ext cx="7556421" cy="1204913"/>
          </a:xfrm>
          <a:prstGeom prst="rect">
            <a:avLst/>
          </a:prstGeom>
          <a:noFill/>
          <a:ln/>
        </p:spPr>
        <p:txBody>
          <a:bodyPr wrap="square" lIns="0" tIns="0" rIns="0" bIns="0" rtlCol="0" anchor="t"/>
          <a:lstStyle/>
          <a:p>
            <a:pPr marL="0" indent="0" algn="l">
              <a:lnSpc>
                <a:spcPts val="4700"/>
              </a:lnSpc>
              <a:buNone/>
            </a:pPr>
            <a:r>
              <a:rPr lang="en-US" sz="3750" b="1" dirty="0">
                <a:solidFill>
                  <a:srgbClr val="03978F"/>
                </a:solidFill>
                <a:latin typeface="Roboto Slab Bold" pitchFamily="34" charset="0"/>
                <a:ea typeface="Roboto Slab Bold" pitchFamily="34" charset="-122"/>
                <a:cs typeface="Roboto Slab Bold" pitchFamily="34" charset="-120"/>
              </a:rPr>
              <a:t>The Triple Impact: Transforming Practice, Research &amp; Life</a:t>
            </a:r>
            <a:endParaRPr lang="en-US" sz="3750" dirty="0"/>
          </a:p>
        </p:txBody>
      </p:sp>
      <p:sp>
        <p:nvSpPr>
          <p:cNvPr id="4" name="Shape 1"/>
          <p:cNvSpPr/>
          <p:nvPr/>
        </p:nvSpPr>
        <p:spPr>
          <a:xfrm>
            <a:off x="793790" y="2563773"/>
            <a:ext cx="3681770" cy="2969062"/>
          </a:xfrm>
          <a:prstGeom prst="roundRect">
            <a:avLst>
              <a:gd name="adj" fmla="val 2727"/>
            </a:avLst>
          </a:prstGeom>
          <a:solidFill>
            <a:srgbClr val="CEFDFA"/>
          </a:solidFill>
          <a:ln w="7620">
            <a:solidFill>
              <a:srgbClr val="B4E3E0"/>
            </a:solidFill>
            <a:prstDash val="solid"/>
          </a:ln>
        </p:spPr>
      </p:sp>
      <p:sp>
        <p:nvSpPr>
          <p:cNvPr id="5" name="Text 2"/>
          <p:cNvSpPr/>
          <p:nvPr/>
        </p:nvSpPr>
        <p:spPr>
          <a:xfrm>
            <a:off x="994172" y="2764155"/>
            <a:ext cx="2448163" cy="301228"/>
          </a:xfrm>
          <a:prstGeom prst="rect">
            <a:avLst/>
          </a:prstGeom>
          <a:noFill/>
          <a:ln/>
        </p:spPr>
        <p:txBody>
          <a:bodyPr wrap="none" lIns="0" tIns="0" rIns="0" bIns="0" rtlCol="0" anchor="t"/>
          <a:lstStyle/>
          <a:p>
            <a:pPr marL="0" indent="0" algn="l">
              <a:lnSpc>
                <a:spcPts val="2350"/>
              </a:lnSpc>
              <a:buNone/>
            </a:pPr>
            <a:r>
              <a:rPr lang="en-US" sz="1850" b="1" dirty="0">
                <a:solidFill>
                  <a:srgbClr val="287170"/>
                </a:solidFill>
                <a:latin typeface="Roboto Slab Bold" pitchFamily="34" charset="0"/>
                <a:ea typeface="Roboto Slab Bold" pitchFamily="34" charset="-122"/>
                <a:cs typeface="Roboto Slab Bold" pitchFamily="34" charset="-120"/>
              </a:rPr>
              <a:t>Superior Patient Care</a:t>
            </a:r>
            <a:endParaRPr lang="en-US" sz="1850" dirty="0"/>
          </a:p>
        </p:txBody>
      </p:sp>
      <p:sp>
        <p:nvSpPr>
          <p:cNvPr id="6" name="Text 3"/>
          <p:cNvSpPr/>
          <p:nvPr/>
        </p:nvSpPr>
        <p:spPr>
          <a:xfrm>
            <a:off x="994172" y="3180993"/>
            <a:ext cx="3281005" cy="1850231"/>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EndoFlow removes administrative burden, allowing more time for diagnosis, explanation, and building trust. This leads to enhanced clinical decision-making and improved patient communication.</a:t>
            </a:r>
            <a:endParaRPr lang="en-US" sz="1500" dirty="0"/>
          </a:p>
        </p:txBody>
      </p:sp>
      <p:sp>
        <p:nvSpPr>
          <p:cNvPr id="7" name="Shape 4"/>
          <p:cNvSpPr/>
          <p:nvPr/>
        </p:nvSpPr>
        <p:spPr>
          <a:xfrm>
            <a:off x="4668322" y="2563773"/>
            <a:ext cx="3681889" cy="2969062"/>
          </a:xfrm>
          <a:prstGeom prst="roundRect">
            <a:avLst>
              <a:gd name="adj" fmla="val 2727"/>
            </a:avLst>
          </a:prstGeom>
          <a:solidFill>
            <a:srgbClr val="CEFDFA"/>
          </a:solidFill>
          <a:ln w="7620">
            <a:solidFill>
              <a:srgbClr val="B4E3E0"/>
            </a:solidFill>
            <a:prstDash val="solid"/>
          </a:ln>
        </p:spPr>
      </p:sp>
      <p:sp>
        <p:nvSpPr>
          <p:cNvPr id="8" name="Text 5"/>
          <p:cNvSpPr/>
          <p:nvPr/>
        </p:nvSpPr>
        <p:spPr>
          <a:xfrm>
            <a:off x="4868704" y="2764155"/>
            <a:ext cx="3281124" cy="602456"/>
          </a:xfrm>
          <a:prstGeom prst="rect">
            <a:avLst/>
          </a:prstGeom>
          <a:noFill/>
          <a:ln/>
        </p:spPr>
        <p:txBody>
          <a:bodyPr wrap="square" lIns="0" tIns="0" rIns="0" bIns="0" rtlCol="0" anchor="t"/>
          <a:lstStyle/>
          <a:p>
            <a:pPr marL="0" indent="0" algn="l">
              <a:lnSpc>
                <a:spcPts val="2350"/>
              </a:lnSpc>
              <a:buNone/>
            </a:pPr>
            <a:r>
              <a:rPr lang="en-US" sz="1850" b="1" dirty="0">
                <a:solidFill>
                  <a:srgbClr val="287170"/>
                </a:solidFill>
                <a:latin typeface="Roboto Slab Bold" pitchFamily="34" charset="0"/>
                <a:ea typeface="Roboto Slab Bold" pitchFamily="34" charset="-122"/>
                <a:cs typeface="Roboto Slab Bold" pitchFamily="34" charset="-120"/>
              </a:rPr>
              <a:t>Accelerated Research Discovery</a:t>
            </a:r>
            <a:endParaRPr lang="en-US" sz="1850" dirty="0"/>
          </a:p>
        </p:txBody>
      </p:sp>
      <p:sp>
        <p:nvSpPr>
          <p:cNvPr id="9" name="Text 6"/>
          <p:cNvSpPr/>
          <p:nvPr/>
        </p:nvSpPr>
        <p:spPr>
          <a:xfrm>
            <a:off x="4868704" y="3482221"/>
            <a:ext cx="3281124" cy="1850231"/>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AI-powered analysis of 10,000+ medical papers enables faster identification of breakthrough endodontic techniques and evidence-based protocols, keeping you current with the latest research automatically.</a:t>
            </a:r>
            <a:endParaRPr lang="en-US" sz="1500" dirty="0"/>
          </a:p>
        </p:txBody>
      </p:sp>
      <p:sp>
        <p:nvSpPr>
          <p:cNvPr id="10" name="Shape 7"/>
          <p:cNvSpPr/>
          <p:nvPr/>
        </p:nvSpPr>
        <p:spPr>
          <a:xfrm>
            <a:off x="793790" y="5725597"/>
            <a:ext cx="7556421" cy="1434346"/>
          </a:xfrm>
          <a:prstGeom prst="roundRect">
            <a:avLst>
              <a:gd name="adj" fmla="val 5646"/>
            </a:avLst>
          </a:prstGeom>
          <a:solidFill>
            <a:srgbClr val="CEFDFA"/>
          </a:solidFill>
          <a:ln w="7620">
            <a:solidFill>
              <a:srgbClr val="B4E3E0"/>
            </a:solidFill>
            <a:prstDash val="solid"/>
          </a:ln>
        </p:spPr>
      </p:sp>
      <p:sp>
        <p:nvSpPr>
          <p:cNvPr id="11" name="Text 8"/>
          <p:cNvSpPr/>
          <p:nvPr/>
        </p:nvSpPr>
        <p:spPr>
          <a:xfrm>
            <a:off x="994172" y="5925979"/>
            <a:ext cx="3355777" cy="301228"/>
          </a:xfrm>
          <a:prstGeom prst="rect">
            <a:avLst/>
          </a:prstGeom>
          <a:noFill/>
          <a:ln/>
        </p:spPr>
        <p:txBody>
          <a:bodyPr wrap="none" lIns="0" tIns="0" rIns="0" bIns="0" rtlCol="0" anchor="t"/>
          <a:lstStyle/>
          <a:p>
            <a:pPr marL="0" indent="0" algn="l">
              <a:lnSpc>
                <a:spcPts val="2350"/>
              </a:lnSpc>
              <a:buNone/>
            </a:pPr>
            <a:r>
              <a:rPr lang="en-US" sz="1850" b="1" dirty="0">
                <a:solidFill>
                  <a:srgbClr val="287170"/>
                </a:solidFill>
                <a:latin typeface="Roboto Slab Bold" pitchFamily="34" charset="0"/>
                <a:ea typeface="Roboto Slab Bold" pitchFamily="34" charset="-122"/>
                <a:cs typeface="Roboto Slab Bold" pitchFamily="34" charset="-120"/>
              </a:rPr>
              <a:t>Enhanced Work-Life Balance</a:t>
            </a:r>
            <a:endParaRPr lang="en-US" sz="1850" dirty="0"/>
          </a:p>
        </p:txBody>
      </p:sp>
      <p:sp>
        <p:nvSpPr>
          <p:cNvPr id="12" name="Text 9"/>
          <p:cNvSpPr/>
          <p:nvPr/>
        </p:nvSpPr>
        <p:spPr>
          <a:xfrm>
            <a:off x="994172" y="6342817"/>
            <a:ext cx="7155656" cy="616744"/>
          </a:xfrm>
          <a:prstGeom prst="rect">
            <a:avLst/>
          </a:prstGeom>
          <a:noFill/>
          <a:ln/>
        </p:spPr>
        <p:txBody>
          <a:bodyPr wrap="square" lIns="0" tIns="0" rIns="0" bIns="0" rtlCol="0" anchor="t"/>
          <a:lstStyle/>
          <a:p>
            <a:pPr marL="0" indent="0" algn="l">
              <a:lnSpc>
                <a:spcPts val="2400"/>
              </a:lnSpc>
              <a:buNone/>
            </a:pPr>
            <a:r>
              <a:rPr lang="en-US" sz="1500" dirty="0">
                <a:solidFill>
                  <a:srgbClr val="287170"/>
                </a:solidFill>
                <a:latin typeface="Roboto" pitchFamily="34" charset="0"/>
                <a:ea typeface="Roboto" pitchFamily="34" charset="-122"/>
                <a:cs typeface="Roboto" pitchFamily="34" charset="-120"/>
              </a:rPr>
              <a:t>With 24/7 AI assistance, EndoFlow reduces after-hours work and prevents burnout, fostering sustainable practice growth and freeing up valuable personal time.</a:t>
            </a:r>
            <a:endParaRPr lang="en-US"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3442</TotalTime>
  <Words>2639</Words>
  <Application>Microsoft Office PowerPoint</Application>
  <PresentationFormat>Custom</PresentationFormat>
  <Paragraphs>341</Paragraphs>
  <Slides>15</Slides>
  <Notes>15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Roboto Slab Bold</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NISARG DALAL</cp:lastModifiedBy>
  <cp:revision>7</cp:revision>
  <dcterms:created xsi:type="dcterms:W3CDTF">2025-10-17T22:18:37Z</dcterms:created>
  <dcterms:modified xsi:type="dcterms:W3CDTF">2025-10-28T18:19:56Z</dcterms:modified>
</cp:coreProperties>
</file>